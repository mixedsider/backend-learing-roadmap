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86200" cy="6858000"/>
          </a:xfrm>
          <a:prstGeom prst="rect">
            <a:avLst/>
          </a:prstGeom>
          <a:solidFill>
            <a:srgbClr val="1C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2926080" cy="34747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200" b="1">
                <a:solidFill>
                  <a:srgbClr val="FFC457"/>
                </a:solidFill>
                <a:latin typeface="Malgun Gothic"/>
              </a:rPr>
              <a:t>Chapter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71600"/>
            <a:ext cx="3017520" cy="5943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Malgun Gothic"/>
              </a:rPr>
              <a:t>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029968"/>
            <a:ext cx="3063240" cy="5943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Malgun Gothic"/>
              </a:rPr>
              <a:t>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5376672"/>
            <a:ext cx="27432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700" b="0">
                <a:solidFill>
                  <a:srgbClr val="DCEAF9"/>
                </a:solidFill>
                <a:latin typeface="Malgun Gothic"/>
              </a:rPr>
              <a:t>Node.js + MySQL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325880"/>
            <a:ext cx="6858000" cy="1417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800" b="1">
                <a:solidFill>
                  <a:srgbClr val="1C3456"/>
                </a:solidFill>
                <a:latin typeface="Malgun Gothic"/>
              </a:rPr>
              <a:t>백엔드 개발의 기초 및 환경 구축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971800"/>
            <a:ext cx="658368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300" b="0">
                <a:solidFill>
                  <a:srgbClr val="1F2937"/>
                </a:solidFill>
                <a:latin typeface="Malgun Gothic"/>
              </a:rPr>
              <a:t>교재 내용을 강의용으로 압축한 요약 슬라이드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4069080"/>
            <a:ext cx="128016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1">
                <a:solidFill>
                  <a:srgbClr val="246FB5"/>
                </a:solidFill>
                <a:latin typeface="Malgun Gothic"/>
              </a:rPr>
              <a:t>기술 스택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4389120"/>
            <a:ext cx="708660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100" b="1">
                <a:solidFill>
                  <a:srgbClr val="1F2937"/>
                </a:solidFill>
                <a:latin typeface="Malgun Gothic"/>
              </a:rPr>
              <a:t>Node.js 20 LTS · npm · VS Code · nodemon · dotenv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목차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21792"/>
            <a:ext cx="10789920" cy="5669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200" b="1">
                <a:solidFill>
                  <a:srgbClr val="1C3456"/>
                </a:solidFill>
                <a:latin typeface="Malgun Gothic"/>
              </a:rPr>
              <a:t>백엔드 개발의 기초 및 환경 구축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81328"/>
            <a:ext cx="74980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1">
                <a:solidFill>
                  <a:srgbClr val="246FB5"/>
                </a:solidFill>
                <a:latin typeface="Malgun Gothic"/>
              </a:rPr>
              <a:t>1-1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36192" y="1463040"/>
            <a:ext cx="43891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Malgun Gothic"/>
              </a:rPr>
              <a:t>서버란 무엇인가?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74980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1">
                <a:solidFill>
                  <a:srgbClr val="246FB5"/>
                </a:solidFill>
                <a:latin typeface="Malgun Gothic"/>
              </a:rPr>
              <a:t>1-2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36192" y="2084832"/>
            <a:ext cx="43891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Malgun Gothic"/>
              </a:rPr>
              <a:t>HTTP 프로토콜 핵심 이해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724912"/>
            <a:ext cx="74980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1">
                <a:solidFill>
                  <a:srgbClr val="246FB5"/>
                </a:solidFill>
                <a:latin typeface="Malgun Gothic"/>
              </a:rPr>
              <a:t>1-3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6192" y="2706624"/>
            <a:ext cx="43891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Malgun Gothic"/>
              </a:rPr>
              <a:t>Node.js 환경 설정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481328"/>
            <a:ext cx="74980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1">
                <a:solidFill>
                  <a:srgbClr val="246FB5"/>
                </a:solidFill>
                <a:latin typeface="Malgun Gothic"/>
              </a:rPr>
              <a:t>1-4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68312" y="1463040"/>
            <a:ext cx="43891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Malgun Gothic"/>
              </a:rPr>
              <a:t>핵심 터미널 명령어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103120"/>
            <a:ext cx="74980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1">
                <a:solidFill>
                  <a:srgbClr val="246FB5"/>
                </a:solidFill>
                <a:latin typeface="Malgun Gothic"/>
              </a:rPr>
              <a:t>1-5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68312" y="2084832"/>
            <a:ext cx="43891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Malgun Gothic"/>
              </a:rPr>
              <a:t>dotenv - 환경 변수 관리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724912"/>
            <a:ext cx="749808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1">
                <a:solidFill>
                  <a:srgbClr val="246FB5"/>
                </a:solidFill>
                <a:latin typeface="Malgun Gothic"/>
              </a:rPr>
              <a:t>1-6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68312" y="2706624"/>
            <a:ext cx="438912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000" b="1">
                <a:solidFill>
                  <a:srgbClr val="1F2937"/>
                </a:solidFill>
                <a:latin typeface="Malgun Gothic"/>
              </a:rPr>
              <a:t>실습 과제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핵심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03504"/>
            <a:ext cx="649224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100" b="1">
                <a:solidFill>
                  <a:srgbClr val="1C3456"/>
                </a:solidFill>
                <a:latin typeface="Malgun Gothic"/>
              </a:rPr>
              <a:t>1-1. 서버란 무엇인가?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207008"/>
            <a:ext cx="630936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0">
                <a:solidFill>
                  <a:srgbClr val="5C697A"/>
                </a:solidFill>
                <a:latin typeface="Malgun Gothic"/>
              </a:rPr>
              <a:t>교재 핵심을 강의용 문장으로 압축했습니다.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989320" cy="3246120"/>
          </a:xfrm>
          <a:prstGeom prst="rect">
            <a:avLst/>
          </a:prstGeom>
          <a:noFill/>
        </p:spPr>
        <p:txBody>
          <a:bodyPr wrap="square" lIns="18288" rIns="45720" tIns="18288" bIns="18288">
            <a:noAutofit/>
          </a:bodyPr>
          <a:lstStyle/>
          <a:p>
            <a:pPr>
              <a:spcAft>
                <a:spcPts val="1300"/>
              </a:spcAft>
              <a:defRPr sz="2300">
                <a:solidFill>
                  <a:srgbClr val="1F2937"/>
                </a:solidFill>
                <a:latin typeface="Malgun Gothic"/>
              </a:defRPr>
            </a:pPr>
            <a:r>
              <a:rPr sz="2300">
                <a:solidFill>
                  <a:srgbClr val="1F2937"/>
                </a:solidFill>
                <a:latin typeface="Malgun Gothic"/>
              </a:rPr>
              <a:t>• 웹 화면 뒤에서는 서버가 데이터를 처리하고 응답을 돌려줍니다.</a:t>
            </a:r>
          </a:p>
          <a:p>
            <a:pPr>
              <a:spcAft>
                <a:spcPts val="1300"/>
              </a:spcAft>
              <a:defRPr sz="2300">
                <a:solidFill>
                  <a:srgbClr val="1F2937"/>
                </a:solidFill>
                <a:latin typeface="Malgun Gothic"/>
              </a:defRPr>
            </a:pPr>
            <a:r>
              <a:rPr sz="2300">
                <a:solidFill>
                  <a:srgbClr val="1F2937"/>
                </a:solidFill>
                <a:latin typeface="Malgun Gothic"/>
              </a:rPr>
              <a:t>• 클라이언트는 요청을 보내고, 서버는 그 요청을 처리합니다.</a:t>
            </a:r>
          </a:p>
          <a:p>
            <a:pPr>
              <a:spcAft>
                <a:spcPts val="1300"/>
              </a:spcAft>
              <a:defRPr sz="2300">
                <a:solidFill>
                  <a:srgbClr val="1F2937"/>
                </a:solidFill>
                <a:latin typeface="Malgun Gothic"/>
              </a:defRPr>
            </a:pPr>
            <a:r>
              <a:rPr sz="2300">
                <a:solidFill>
                  <a:srgbClr val="1F2937"/>
                </a:solidFill>
                <a:latin typeface="Malgun Gothic"/>
              </a:rPr>
              <a:t>• 둘은 인터넷을 통해 HTTP 프로토콜로 통신합니다.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596128"/>
            <a:ext cx="118872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한 줄 정리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5522976"/>
            <a:ext cx="489204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800" b="1">
                <a:solidFill>
                  <a:srgbClr val="1F2937"/>
                </a:solidFill>
                <a:latin typeface="Malgun Gothic"/>
              </a:rPr>
              <a:t>웹 화면 뒤에서는 서버가 데이터를 처리하고 응답을 돌려줍니다.</a:t>
            </a:r>
          </a:p>
        </p:txBody>
      </p:sp>
      <p:pic>
        <p:nvPicPr>
          <p:cNvPr id="11" name="Picture 10" descr="client_ser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2" y="1444752"/>
            <a:ext cx="4343400" cy="3017520"/>
          </a:xfrm>
          <a:prstGeom prst="rect">
            <a:avLst/>
          </a:prstGeom>
          <a:ln>
            <a:solidFill>
              <a:srgbClr val="D5DEE9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핵심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03504"/>
            <a:ext cx="649224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100" b="1">
                <a:solidFill>
                  <a:srgbClr val="1C3456"/>
                </a:solidFill>
                <a:latin typeface="Malgun Gothic"/>
              </a:rPr>
              <a:t>1-2. HTTP 프로토콜 핵심 이해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207008"/>
            <a:ext cx="630936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0">
                <a:solidFill>
                  <a:srgbClr val="5C697A"/>
                </a:solidFill>
                <a:latin typeface="Malgun Gothic"/>
              </a:rPr>
              <a:t>교재 핵심을 강의용 문장으로 압축했습니다.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989320" cy="3246120"/>
          </a:xfrm>
          <a:prstGeom prst="rect">
            <a:avLst/>
          </a:prstGeom>
          <a:noFill/>
        </p:spPr>
        <p:txBody>
          <a:bodyPr wrap="square" lIns="18288" rIns="45720" tIns="18288" bIns="18288">
            <a:noAutofit/>
          </a:bodyPr>
          <a:lstStyle/>
          <a:p>
            <a:pPr>
              <a:spcAft>
                <a:spcPts val="1300"/>
              </a:spcAft>
              <a:defRPr sz="2300">
                <a:solidFill>
                  <a:srgbClr val="1F2937"/>
                </a:solidFill>
                <a:latin typeface="Malgun Gothic"/>
              </a:defRPr>
            </a:pPr>
            <a:r>
              <a:rPr sz="2300">
                <a:solidFill>
                  <a:srgbClr val="1F2937"/>
                </a:solidFill>
                <a:latin typeface="Malgun Gothic"/>
              </a:rPr>
              <a:t>• HTTP는 클라이언트와 서버가 요청과 응답을 주고받는 규칙입니다.</a:t>
            </a:r>
          </a:p>
          <a:p>
            <a:pPr>
              <a:spcAft>
                <a:spcPts val="1300"/>
              </a:spcAft>
              <a:defRPr sz="2300">
                <a:solidFill>
                  <a:srgbClr val="1F2937"/>
                </a:solidFill>
                <a:latin typeface="Malgun Gothic"/>
              </a:defRPr>
            </a:pPr>
            <a:r>
              <a:rPr sz="2300">
                <a:solidFill>
                  <a:srgbClr val="1F2937"/>
                </a:solidFill>
                <a:latin typeface="Malgun Gothic"/>
              </a:rPr>
              <a:t>• 요청에는 메서드, URL, 헤더, 바디가 담깁니다.</a:t>
            </a:r>
          </a:p>
          <a:p>
            <a:pPr>
              <a:spcAft>
                <a:spcPts val="1300"/>
              </a:spcAft>
              <a:defRPr sz="2300">
                <a:solidFill>
                  <a:srgbClr val="1F2937"/>
                </a:solidFill>
                <a:latin typeface="Malgun Gothic"/>
              </a:defRPr>
            </a:pPr>
            <a:r>
              <a:rPr sz="2300">
                <a:solidFill>
                  <a:srgbClr val="1F2937"/>
                </a:solidFill>
                <a:latin typeface="Malgun Gothic"/>
              </a:rPr>
              <a:t>• 응답에는 상태 코드와 서버가 돌려주는 데이터가 담깁니다.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596128"/>
            <a:ext cx="118872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한 줄 정리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5522976"/>
            <a:ext cx="489204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800" b="1">
                <a:solidFill>
                  <a:srgbClr val="1F2937"/>
                </a:solidFill>
                <a:latin typeface="Malgun Gothic"/>
              </a:rPr>
              <a:t>HTTP는 클라이언트와 서버가 요청과 응답을 주고받는 규칙입니다.</a:t>
            </a:r>
          </a:p>
        </p:txBody>
      </p:sp>
      <p:pic>
        <p:nvPicPr>
          <p:cNvPr id="11" name="Picture 10" descr="http_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2" y="1444752"/>
            <a:ext cx="4343400" cy="3017520"/>
          </a:xfrm>
          <a:prstGeom prst="rect">
            <a:avLst/>
          </a:prstGeom>
          <a:ln>
            <a:solidFill>
              <a:srgbClr val="D5DEE9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핵심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03504"/>
            <a:ext cx="649224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100" b="1">
                <a:solidFill>
                  <a:srgbClr val="1C3456"/>
                </a:solidFill>
                <a:latin typeface="Malgun Gothic"/>
              </a:rPr>
              <a:t>1-3. Node.js 환경 설정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207008"/>
            <a:ext cx="630936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0">
                <a:solidFill>
                  <a:srgbClr val="5C697A"/>
                </a:solidFill>
                <a:latin typeface="Malgun Gothic"/>
              </a:rPr>
              <a:t>교재 핵심을 강의용 문장으로 압축했습니다.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989320" cy="3246120"/>
          </a:xfrm>
          <a:prstGeom prst="rect">
            <a:avLst/>
          </a:prstGeom>
          <a:noFill/>
        </p:spPr>
        <p:txBody>
          <a:bodyPr wrap="square" lIns="18288" rIns="45720" tIns="18288" bIns="18288">
            <a:noAutofit/>
          </a:bodyPr>
          <a:lstStyle/>
          <a:p>
            <a:pPr>
              <a:spcAft>
                <a:spcPts val="1300"/>
              </a:spcAft>
              <a:defRPr sz="2300">
                <a:solidFill>
                  <a:srgbClr val="1F2937"/>
                </a:solidFill>
                <a:latin typeface="Malgun Gothic"/>
              </a:defRPr>
            </a:pPr>
            <a:r>
              <a:rPr sz="2300">
                <a:solidFill>
                  <a:srgbClr val="1F2937"/>
                </a:solidFill>
                <a:latin typeface="Malgun Gothic"/>
              </a:rPr>
              <a:t>• Node.js 20 LTS를 설치하고 터미널에서 버전을 확인합니다.</a:t>
            </a:r>
          </a:p>
          <a:p>
            <a:pPr>
              <a:spcAft>
                <a:spcPts val="1300"/>
              </a:spcAft>
              <a:defRPr sz="2300">
                <a:solidFill>
                  <a:srgbClr val="1F2937"/>
                </a:solidFill>
                <a:latin typeface="Malgun Gothic"/>
              </a:defRPr>
            </a:pPr>
            <a:r>
              <a:rPr sz="2300">
                <a:solidFill>
                  <a:srgbClr val="1F2937"/>
                </a:solidFill>
                <a:latin typeface="Malgun Gothic"/>
              </a:rPr>
              <a:t>• VS Code와 기본 확장을 준비해 서버 코드를 작성합니다.</a:t>
            </a:r>
          </a:p>
          <a:p>
            <a:pPr>
              <a:spcAft>
                <a:spcPts val="1300"/>
              </a:spcAft>
              <a:defRPr sz="2300">
                <a:solidFill>
                  <a:srgbClr val="1F2937"/>
                </a:solidFill>
                <a:latin typeface="Malgun Gothic"/>
              </a:defRPr>
            </a:pPr>
            <a:r>
              <a:rPr sz="2300">
                <a:solidFill>
                  <a:srgbClr val="1F2937"/>
                </a:solidFill>
                <a:latin typeface="Malgun Gothic"/>
              </a:rPr>
              <a:t>• 첫 서버 파일을 실행해 로컬에서 응답을 확인합니다.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596128"/>
            <a:ext cx="118872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한 줄 정리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5522976"/>
            <a:ext cx="489204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800" b="1">
                <a:solidFill>
                  <a:srgbClr val="1F2937"/>
                </a:solidFill>
                <a:latin typeface="Malgun Gothic"/>
              </a:rPr>
              <a:t>Node.js 20 LTS를 설치하고 터미널에서 버전을 확인합니다.</a:t>
            </a:r>
          </a:p>
        </p:txBody>
      </p:sp>
      <p:pic>
        <p:nvPicPr>
          <p:cNvPr id="11" name="Picture 10" descr="terminal_set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2" y="1444752"/>
            <a:ext cx="4343400" cy="3017520"/>
          </a:xfrm>
          <a:prstGeom prst="rect">
            <a:avLst/>
          </a:prstGeom>
          <a:ln>
            <a:solidFill>
              <a:srgbClr val="D5DEE9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핵심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03504"/>
            <a:ext cx="649224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100" b="1">
                <a:solidFill>
                  <a:srgbClr val="1C3456"/>
                </a:solidFill>
                <a:latin typeface="Malgun Gothic"/>
              </a:rPr>
              <a:t>1-4. 핵심 터미널 명령어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207008"/>
            <a:ext cx="630936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0">
                <a:solidFill>
                  <a:srgbClr val="5C697A"/>
                </a:solidFill>
                <a:latin typeface="Malgun Gothic"/>
              </a:rPr>
              <a:t>교재 핵심을 강의용 문장으로 압축했습니다.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989320" cy="3246120"/>
          </a:xfrm>
          <a:prstGeom prst="rect">
            <a:avLst/>
          </a:prstGeom>
          <a:noFill/>
        </p:spPr>
        <p:txBody>
          <a:bodyPr wrap="square" lIns="18288" rIns="45720" tIns="18288" bIns="18288">
            <a:noAutofit/>
          </a:bodyPr>
          <a:lstStyle/>
          <a:p>
            <a:pPr>
              <a:spcAft>
                <a:spcPts val="1300"/>
              </a:spcAft>
              <a:defRPr sz="2300">
                <a:solidFill>
                  <a:srgbClr val="1F2937"/>
                </a:solidFill>
                <a:latin typeface="Malgun Gothic"/>
              </a:defRPr>
            </a:pPr>
            <a:r>
              <a:rPr sz="2300">
                <a:solidFill>
                  <a:srgbClr val="1F2937"/>
                </a:solidFill>
                <a:latin typeface="Malgun Gothic"/>
              </a:rPr>
              <a:t>• ls / dir -&gt; 현재 폴더의 파일 목록 확인</a:t>
            </a:r>
          </a:p>
          <a:p>
            <a:pPr>
              <a:spcAft>
                <a:spcPts val="1300"/>
              </a:spcAft>
              <a:defRPr sz="2300">
                <a:solidFill>
                  <a:srgbClr val="1F2937"/>
                </a:solidFill>
                <a:latin typeface="Malgun Gothic"/>
              </a:defRPr>
            </a:pPr>
            <a:r>
              <a:rPr sz="2300">
                <a:solidFill>
                  <a:srgbClr val="1F2937"/>
                </a:solidFill>
                <a:latin typeface="Malgun Gothic"/>
              </a:rPr>
              <a:t>• cd 폴더명 -&gt; 폴더 이동</a:t>
            </a:r>
          </a:p>
          <a:p>
            <a:pPr>
              <a:spcAft>
                <a:spcPts val="1300"/>
              </a:spcAft>
              <a:defRPr sz="2300">
                <a:solidFill>
                  <a:srgbClr val="1F2937"/>
                </a:solidFill>
                <a:latin typeface="Malgun Gothic"/>
              </a:defRPr>
            </a:pPr>
            <a:r>
              <a:rPr sz="2300">
                <a:solidFill>
                  <a:srgbClr val="1F2937"/>
                </a:solidFill>
                <a:latin typeface="Malgun Gothic"/>
              </a:rPr>
              <a:t>• mkdir 폴더명 -&gt; 새 폴더 생성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596128"/>
            <a:ext cx="118872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한 줄 정리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5522976"/>
            <a:ext cx="489204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800" b="1">
                <a:solidFill>
                  <a:srgbClr val="1F2937"/>
                </a:solidFill>
                <a:latin typeface="Malgun Gothic"/>
              </a:rPr>
              <a:t>ls / dir -&gt; 현재 폴더의 파일 목록 확인</a:t>
            </a:r>
          </a:p>
        </p:txBody>
      </p:sp>
      <p:pic>
        <p:nvPicPr>
          <p:cNvPr id="11" name="Picture 10" descr="terminal_set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2" y="1444752"/>
            <a:ext cx="4343400" cy="3017520"/>
          </a:xfrm>
          <a:prstGeom prst="rect">
            <a:avLst/>
          </a:prstGeom>
          <a:ln>
            <a:solidFill>
              <a:srgbClr val="D5DEE9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핵심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03504"/>
            <a:ext cx="649224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100" b="1">
                <a:solidFill>
                  <a:srgbClr val="1C3456"/>
                </a:solidFill>
                <a:latin typeface="Malgun Gothic"/>
              </a:rPr>
              <a:t>1-5. dotenv - 환경 변수 관리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207008"/>
            <a:ext cx="630936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600" b="0">
                <a:solidFill>
                  <a:srgbClr val="5C697A"/>
                </a:solidFill>
                <a:latin typeface="Malgun Gothic"/>
              </a:rPr>
              <a:t>교재 핵심을 강의용 문장으로 압축했습니다.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989320" cy="3246120"/>
          </a:xfrm>
          <a:prstGeom prst="rect">
            <a:avLst/>
          </a:prstGeom>
          <a:noFill/>
        </p:spPr>
        <p:txBody>
          <a:bodyPr wrap="square" lIns="18288" rIns="45720" tIns="18288" bIns="18288">
            <a:noAutofit/>
          </a:bodyPr>
          <a:lstStyle/>
          <a:p>
            <a:pPr>
              <a:spcAft>
                <a:spcPts val="1300"/>
              </a:spcAft>
              <a:defRPr sz="2300">
                <a:solidFill>
                  <a:srgbClr val="1F2937"/>
                </a:solidFill>
                <a:latin typeface="Malgun Gothic"/>
              </a:defRPr>
            </a:pPr>
            <a:r>
              <a:rPr sz="2300">
                <a:solidFill>
                  <a:srgbClr val="1F2937"/>
                </a:solidFill>
                <a:latin typeface="Malgun Gothic"/>
              </a:rPr>
              <a:t>• 포트 번호와 DB 접속 정보는 코드 밖의 .env 파일에 둡니다.</a:t>
            </a:r>
          </a:p>
          <a:p>
            <a:pPr>
              <a:spcAft>
                <a:spcPts val="1300"/>
              </a:spcAft>
              <a:defRPr sz="2300">
                <a:solidFill>
                  <a:srgbClr val="1F2937"/>
                </a:solidFill>
                <a:latin typeface="Malgun Gothic"/>
              </a:defRPr>
            </a:pPr>
            <a:r>
              <a:rPr sz="2300">
                <a:solidFill>
                  <a:srgbClr val="1F2937"/>
                </a:solidFill>
                <a:latin typeface="Malgun Gothic"/>
              </a:rPr>
              <a:t>• dotenv는 .env 값을 읽어 process.env로 사용할 수 있게 합니다.</a:t>
            </a:r>
          </a:p>
          <a:p>
            <a:pPr>
              <a:spcAft>
                <a:spcPts val="1300"/>
              </a:spcAft>
              <a:defRPr sz="2300">
                <a:solidFill>
                  <a:srgbClr val="1F2937"/>
                </a:solidFill>
                <a:latin typeface="Malgun Gothic"/>
              </a:defRPr>
            </a:pPr>
            <a:r>
              <a:rPr sz="2300">
                <a:solidFill>
                  <a:srgbClr val="1F2937"/>
                </a:solidFill>
                <a:latin typeface="Malgun Gothic"/>
              </a:rPr>
              <a:t>• .env는 비밀 정보가 들어가므로 GitHub에 올리지 않습니다.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596128"/>
            <a:ext cx="118872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한 줄 정리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5522976"/>
            <a:ext cx="4892040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800" b="1">
                <a:solidFill>
                  <a:srgbClr val="1F2937"/>
                </a:solidFill>
                <a:latin typeface="Malgun Gothic"/>
              </a:rPr>
              <a:t>포트 번호와 DB 접속 정보는 코드 밖의 .env 파일에 둡니다.</a:t>
            </a:r>
          </a:p>
        </p:txBody>
      </p:sp>
      <p:pic>
        <p:nvPicPr>
          <p:cNvPr id="11" name="Picture 10" descr="env_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2" y="1444752"/>
            <a:ext cx="4343400" cy="3017520"/>
          </a:xfrm>
          <a:prstGeom prst="rect">
            <a:avLst/>
          </a:prstGeom>
          <a:ln>
            <a:solidFill>
              <a:srgbClr val="D5DEE9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코드 따라 쳐보기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13232"/>
            <a:ext cx="1024128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800" b="1">
                <a:solidFill>
                  <a:srgbClr val="1C3456"/>
                </a:solidFill>
                <a:latin typeface="Malgun Gothic"/>
              </a:rPr>
              <a:t>HTTP 요청(Request) 구조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133856"/>
            <a:ext cx="768096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500" b="0">
                <a:solidFill>
                  <a:srgbClr val="5C697A"/>
                </a:solidFill>
                <a:latin typeface="Malgun Gothic"/>
              </a:rPr>
              <a:t>교재의 코드를 읽기 쉬운 크기로 나누어 배치했습니다.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10771632" cy="4572000"/>
          </a:xfrm>
          <a:prstGeom prst="roundRect">
            <a:avLst/>
          </a:prstGeom>
          <a:solidFill>
            <a:srgbClr val="121E2A"/>
          </a:solidFill>
          <a:ln w="15240">
            <a:solidFill>
              <a:srgbClr val="3C56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01168" tIns="201168" bIns="164592"/>
          <a:lstStyle/>
          <a:p>
            <a:pPr algn="ctr"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  <a:r>
              <a:rPr sz="1700">
                <a:solidFill>
                  <a:srgbClr val="EAEFF5"/>
                </a:solidFill>
                <a:latin typeface="Consolas"/>
              </a:rPr>
              <a:t>GET /users/1 HTTP/1.1</a:t>
            </a:r>
          </a:p>
          <a:p>
            <a:pPr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  <a:r>
              <a:rPr sz="1700">
                <a:solidFill>
                  <a:srgbClr val="EAEFF5"/>
                </a:solidFill>
                <a:latin typeface="Consolas"/>
              </a:rPr>
              <a:t>Host: api.example.com</a:t>
            </a:r>
          </a:p>
          <a:p>
            <a:pPr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  <a:r>
              <a:rPr sz="1700">
                <a:solidFill>
                  <a:srgbClr val="EAEFF5"/>
                </a:solidFill>
                <a:latin typeface="Consolas"/>
              </a:rPr>
              <a:t>Authorization: Bearer &lt;JWT_TOKEN&gt;</a:t>
            </a:r>
          </a:p>
          <a:p>
            <a:pPr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  <a:r>
              <a:rPr sz="1700">
                <a:solidFill>
                  <a:srgbClr val="EAEFF5"/>
                </a:solidFill>
                <a:latin typeface="Consolas"/>
              </a:rPr>
              <a:t>Content-Type: application/json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코드 따라 쳐보기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13232"/>
            <a:ext cx="1024128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800" b="1">
                <a:solidFill>
                  <a:srgbClr val="1C3456"/>
                </a:solidFill>
                <a:latin typeface="Malgun Gothic"/>
              </a:rPr>
              <a:t>HTTP 응답(Response) 구조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133856"/>
            <a:ext cx="768096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500" b="0">
                <a:solidFill>
                  <a:srgbClr val="5C697A"/>
                </a:solidFill>
                <a:latin typeface="Malgun Gothic"/>
              </a:rPr>
              <a:t>교재의 코드를 읽기 쉬운 크기로 나누어 배치했습니다.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10771632" cy="4572000"/>
          </a:xfrm>
          <a:prstGeom prst="roundRect">
            <a:avLst/>
          </a:prstGeom>
          <a:solidFill>
            <a:srgbClr val="121E2A"/>
          </a:solidFill>
          <a:ln w="15240">
            <a:solidFill>
              <a:srgbClr val="3C56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01168" tIns="201168" bIns="164592"/>
          <a:lstStyle/>
          <a:p>
            <a:pPr algn="ctr"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  <a:r>
              <a:rPr sz="1700">
                <a:solidFill>
                  <a:srgbClr val="EAEFF5"/>
                </a:solidFill>
                <a:latin typeface="Consolas"/>
              </a:rPr>
              <a:t>HTTP/1.1 200 OK</a:t>
            </a:r>
          </a:p>
          <a:p>
            <a:pPr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  <a:r>
              <a:rPr sz="1700">
                <a:solidFill>
                  <a:srgbClr val="EAEFF5"/>
                </a:solidFill>
                <a:latin typeface="Consolas"/>
              </a:rPr>
              <a:t>Content-Type: application/json</a:t>
            </a:r>
          </a:p>
          <a:p>
            <a:pPr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700">
                <a:solidFill>
                  <a:srgbClr val="EAEFF5"/>
                </a:solidFill>
                <a:latin typeface="Malgun Gothic"/>
              </a:defRPr>
            </a:pPr>
            <a:r>
              <a:rPr sz="1700">
                <a:solidFill>
                  <a:srgbClr val="EAEFF5"/>
                </a:solidFill>
                <a:latin typeface="Malgun Gothic"/>
              </a:rPr>
              <a:t>{ "id": 1, "name": "이은성", "email": "test@test.com" 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코드 따라 쳐보기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13232"/>
            <a:ext cx="1024128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800" b="1">
                <a:solidFill>
                  <a:srgbClr val="1C3456"/>
                </a:solidFill>
                <a:latin typeface="Malgun Gothic"/>
              </a:rPr>
              <a:t>첫 Node.js 서버 만들기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133856"/>
            <a:ext cx="768096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500" b="0">
                <a:solidFill>
                  <a:srgbClr val="5C697A"/>
                </a:solidFill>
                <a:latin typeface="Malgun Gothic"/>
              </a:rPr>
              <a:t>교재의 코드를 읽기 쉬운 크기로 나누어 배치했습니다.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10771632" cy="4572000"/>
          </a:xfrm>
          <a:prstGeom prst="roundRect">
            <a:avLst/>
          </a:prstGeom>
          <a:solidFill>
            <a:srgbClr val="121E2A"/>
          </a:solidFill>
          <a:ln w="15240">
            <a:solidFill>
              <a:srgbClr val="3C56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01168" tIns="201168" bIns="164592"/>
          <a:lstStyle/>
          <a:p>
            <a:pPr algn="ctr">
              <a:spcAft>
                <a:spcPts val="200"/>
              </a:spcAft>
              <a:defRPr sz="1700">
                <a:solidFill>
                  <a:srgbClr val="86BE97"/>
                </a:solidFill>
                <a:latin typeface="Consolas"/>
              </a:defRPr>
            </a:pPr>
            <a:r>
              <a:rPr sz="1700">
                <a:solidFill>
                  <a:srgbClr val="86BE97"/>
                </a:solidFill>
                <a:latin typeface="Consolas"/>
              </a:rPr>
              <a:t>// server.js</a:t>
            </a:r>
          </a:p>
          <a:p>
            <a:pPr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  <a:r>
              <a:rPr sz="1700">
                <a:solidFill>
                  <a:srgbClr val="EAEFF5"/>
                </a:solidFill>
                <a:latin typeface="Consolas"/>
              </a:rPr>
              <a:t>const http = require("http");</a:t>
            </a:r>
          </a:p>
          <a:p>
            <a:pPr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  <a:r>
              <a:rPr sz="1700">
                <a:solidFill>
                  <a:srgbClr val="EAEFF5"/>
                </a:solidFill>
                <a:latin typeface="Consolas"/>
              </a:rPr>
              <a:t>const server = http.createServer((req, res) =&gt; {</a:t>
            </a:r>
          </a:p>
          <a:p>
            <a:pPr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  <a:r>
              <a:rPr sz="1700">
                <a:solidFill>
                  <a:srgbClr val="EAEFF5"/>
                </a:solidFill>
                <a:latin typeface="Consolas"/>
              </a:rPr>
              <a:t>  res.writeHead(200, { "Content-Type": "text/plain" });</a:t>
            </a:r>
          </a:p>
          <a:p>
            <a:pPr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  <a:r>
              <a:rPr sz="1700">
                <a:solidFill>
                  <a:srgbClr val="EAEFF5"/>
                </a:solidFill>
                <a:latin typeface="Consolas"/>
              </a:rPr>
              <a:t>  res.end("Hello, Backend World!");</a:t>
            </a:r>
          </a:p>
          <a:p>
            <a:pPr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  <a:r>
              <a:rPr sz="1700">
                <a:solidFill>
                  <a:srgbClr val="EAEFF5"/>
                </a:solidFill>
                <a:latin typeface="Consolas"/>
              </a:rPr>
              <a:t>});</a:t>
            </a:r>
          </a:p>
          <a:p>
            <a:pPr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  <a:r>
              <a:rPr sz="1700">
                <a:solidFill>
                  <a:srgbClr val="EAEFF5"/>
                </a:solidFill>
                <a:latin typeface="Consolas"/>
              </a:rPr>
              <a:t>server.listen(3000, () =&gt; {</a:t>
            </a:r>
          </a:p>
          <a:p>
            <a:pPr>
              <a:spcAft>
                <a:spcPts val="200"/>
              </a:spcAft>
              <a:defRPr sz="1700">
                <a:solidFill>
                  <a:srgbClr val="EAEFF5"/>
                </a:solidFill>
                <a:latin typeface="Malgun Gothic"/>
              </a:defRPr>
            </a:pPr>
            <a:r>
              <a:rPr sz="1700">
                <a:solidFill>
                  <a:srgbClr val="EAEFF5"/>
                </a:solidFill>
                <a:latin typeface="Malgun Gothic"/>
              </a:rPr>
              <a:t>  console.log("서버가 http://localhost:3000 에서 실행 중");</a:t>
            </a:r>
          </a:p>
          <a:p>
            <a:pPr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  <a:r>
              <a:rPr sz="1700">
                <a:solidFill>
                  <a:srgbClr val="EAEFF5"/>
                </a:solidFill>
                <a:latin typeface="Consolas"/>
              </a:rPr>
              <a:t>});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코드 따라 쳐보기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13232"/>
            <a:ext cx="1024128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800" b="1">
                <a:solidFill>
                  <a:srgbClr val="1C3456"/>
                </a:solidFill>
                <a:latin typeface="Malgun Gothic"/>
              </a:rPr>
              <a:t>1-5. dotenv - 환경 변수 관리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133856"/>
            <a:ext cx="7680960" cy="2560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500" b="0">
                <a:solidFill>
                  <a:srgbClr val="5C697A"/>
                </a:solidFill>
                <a:latin typeface="Malgun Gothic"/>
              </a:rPr>
              <a:t>교재의 코드를 읽기 쉬운 크기로 나누어 배치했습니다.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10771632" cy="4572000"/>
          </a:xfrm>
          <a:prstGeom prst="roundRect">
            <a:avLst/>
          </a:prstGeom>
          <a:solidFill>
            <a:srgbClr val="121E2A"/>
          </a:solidFill>
          <a:ln w="15240">
            <a:solidFill>
              <a:srgbClr val="3C56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01168" tIns="201168" bIns="164592"/>
          <a:lstStyle/>
          <a:p>
            <a:pPr algn="ctr">
              <a:spcAft>
                <a:spcPts val="200"/>
              </a:spcAft>
              <a:defRPr sz="1700">
                <a:solidFill>
                  <a:srgbClr val="86BE97"/>
                </a:solidFill>
                <a:latin typeface="Malgun Gothic"/>
              </a:defRPr>
            </a:pPr>
            <a:r>
              <a:rPr sz="1700">
                <a:solidFill>
                  <a:srgbClr val="86BE97"/>
                </a:solidFill>
                <a:latin typeface="Malgun Gothic"/>
              </a:rPr>
              <a:t># .env 파일</a:t>
            </a:r>
          </a:p>
          <a:p>
            <a:pPr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  <a:r>
              <a:rPr sz="1700">
                <a:solidFill>
                  <a:srgbClr val="EAEFF5"/>
                </a:solidFill>
                <a:latin typeface="Consolas"/>
              </a:rPr>
              <a:t>PORT=3000</a:t>
            </a:r>
          </a:p>
          <a:p>
            <a:pPr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  <a:r>
              <a:rPr sz="1700">
                <a:solidFill>
                  <a:srgbClr val="EAEFF5"/>
                </a:solidFill>
                <a:latin typeface="Consolas"/>
              </a:rPr>
              <a:t>DB_HOST=localhost</a:t>
            </a:r>
          </a:p>
          <a:p>
            <a:pPr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  <a:r>
              <a:rPr sz="1700">
                <a:solidFill>
                  <a:srgbClr val="EAEFF5"/>
                </a:solidFill>
                <a:latin typeface="Consolas"/>
              </a:rPr>
              <a:t>DB_PASSWORD=my_secret_password</a:t>
            </a:r>
          </a:p>
          <a:p>
            <a:pPr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700">
                <a:solidFill>
                  <a:srgbClr val="86BE97"/>
                </a:solidFill>
                <a:latin typeface="Consolas"/>
              </a:defRPr>
            </a:pPr>
            <a:r>
              <a:rPr sz="1700">
                <a:solidFill>
                  <a:srgbClr val="86BE97"/>
                </a:solidFill>
                <a:latin typeface="Consolas"/>
              </a:rPr>
              <a:t>// app.js</a:t>
            </a:r>
          </a:p>
          <a:p>
            <a:pPr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  <a:r>
              <a:rPr sz="1700">
                <a:solidFill>
                  <a:srgbClr val="EAEFF5"/>
                </a:solidFill>
                <a:latin typeface="Consolas"/>
              </a:rPr>
              <a:t>require("dotenv").config();</a:t>
            </a:r>
          </a:p>
          <a:p>
            <a:pPr>
              <a:spcAft>
                <a:spcPts val="200"/>
              </a:spcAft>
              <a:defRPr sz="1700">
                <a:solidFill>
                  <a:srgbClr val="EAEFF5"/>
                </a:solidFill>
                <a:latin typeface="Consolas"/>
              </a:defRPr>
            </a:pPr>
            <a:r>
              <a:rPr sz="1700">
                <a:solidFill>
                  <a:srgbClr val="EAEFF5"/>
                </a:solidFill>
                <a:latin typeface="Consolas"/>
              </a:rPr>
              <a:t>const port = process.env.PORT || 3000;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4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56032"/>
            <a:ext cx="91440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246FB5"/>
                </a:solidFill>
                <a:latin typeface="Malgun Gothic"/>
              </a:rPr>
              <a:t>CH01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256032"/>
            <a:ext cx="3474720" cy="2743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400" b="1">
                <a:solidFill>
                  <a:srgbClr val="5C697A"/>
                </a:solidFill>
                <a:latin typeface="Malgun Gothic"/>
              </a:rPr>
              <a:t>실습 과제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731520"/>
            <a:ext cx="7315200" cy="5943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3400" b="1">
                <a:solidFill>
                  <a:srgbClr val="1C3456"/>
                </a:solidFill>
                <a:latin typeface="Malgun Gothic"/>
              </a:rPr>
              <a:t>오늘의 완료 조건</a:t>
            </a:r>
          </a:p>
        </p:txBody>
      </p:sp>
      <p:sp>
        <p:nvSpPr>
          <p:cNvPr id="7" name="Oval 6"/>
          <p:cNvSpPr/>
          <p:nvPr/>
        </p:nvSpPr>
        <p:spPr>
          <a:xfrm>
            <a:off x="859536" y="1636776"/>
            <a:ext cx="310896" cy="310896"/>
          </a:xfrm>
          <a:prstGeom prst="ellipse">
            <a:avLst/>
          </a:prstGeom>
          <a:solidFill>
            <a:srgbClr val="FFC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664208"/>
            <a:ext cx="237744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000" b="1">
                <a:solidFill>
                  <a:srgbClr val="1C3456"/>
                </a:solidFill>
                <a:latin typeface="Malgun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3312" y="1581912"/>
            <a:ext cx="969264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200" b="0">
                <a:solidFill>
                  <a:srgbClr val="1F2937"/>
                </a:solidFill>
                <a:latin typeface="Malgun Gothic"/>
              </a:rPr>
              <a:t>Node.js 설치 후 node -v 실행 결과 확인</a:t>
            </a:r>
          </a:p>
        </p:txBody>
      </p:sp>
      <p:sp>
        <p:nvSpPr>
          <p:cNvPr id="10" name="Oval 9"/>
          <p:cNvSpPr/>
          <p:nvPr/>
        </p:nvSpPr>
        <p:spPr>
          <a:xfrm>
            <a:off x="859536" y="2258568"/>
            <a:ext cx="310896" cy="310896"/>
          </a:xfrm>
          <a:prstGeom prst="ellipse">
            <a:avLst/>
          </a:prstGeom>
          <a:solidFill>
            <a:srgbClr val="FFC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286000"/>
            <a:ext cx="237744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000" b="1">
                <a:solidFill>
                  <a:srgbClr val="1C3456"/>
                </a:solidFill>
                <a:latin typeface="Malgun Gothi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203704"/>
            <a:ext cx="969264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200" b="0">
                <a:solidFill>
                  <a:srgbClr val="1F2937"/>
                </a:solidFill>
                <a:latin typeface="Malgun Gothic"/>
              </a:rPr>
              <a:t>http 모듈로 "Hello Backend!" 를 반환하는 서버 만들기</a:t>
            </a:r>
          </a:p>
        </p:txBody>
      </p:sp>
      <p:sp>
        <p:nvSpPr>
          <p:cNvPr id="13" name="Oval 12"/>
          <p:cNvSpPr/>
          <p:nvPr/>
        </p:nvSpPr>
        <p:spPr>
          <a:xfrm>
            <a:off x="859536" y="2880360"/>
            <a:ext cx="310896" cy="310896"/>
          </a:xfrm>
          <a:prstGeom prst="ellipse">
            <a:avLst/>
          </a:prstGeom>
          <a:solidFill>
            <a:srgbClr val="FFC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2907792"/>
            <a:ext cx="237744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/>
            <a:r>
              <a:rPr sz="1000" b="1">
                <a:solidFill>
                  <a:srgbClr val="1C3456"/>
                </a:solidFill>
                <a:latin typeface="Malgun Gothic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825496"/>
            <a:ext cx="9692640" cy="4114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2200" b="0">
                <a:solidFill>
                  <a:srgbClr val="1F2937"/>
                </a:solidFill>
                <a:latin typeface="Malgun Gothic"/>
              </a:rPr>
              <a:t>.env 파일을 이용해 PORT를 4000으로 바꾸고 서버 재실행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6428232"/>
            <a:ext cx="411480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r>
              <a:rPr sz="1000" b="0">
                <a:solidFill>
                  <a:srgbClr val="5C697A"/>
                </a:solidFill>
                <a:latin typeface="Malgun Gothic"/>
              </a:rPr>
              <a:t>Backend Roadmap · Node.js + MySQL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6428232"/>
            <a:ext cx="731520" cy="2011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r"/>
            <a:r>
              <a:rPr sz="1000" b="1">
                <a:solidFill>
                  <a:srgbClr val="5C697A"/>
                </a:solidFill>
                <a:latin typeface="Malgun Gothic"/>
              </a:rPr>
              <a:t>CH01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