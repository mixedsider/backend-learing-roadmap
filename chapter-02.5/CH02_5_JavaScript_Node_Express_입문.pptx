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e973b804c84781" /><Relationship Type="http://schemas.openxmlformats.org/officeDocument/2006/relationships/extended-properties" Target="/docProps/app.xml" Id="R38c4feb41af644c1" /><Relationship Type="http://schemas.openxmlformats.org/officeDocument/2006/relationships/officeDocument" Target="/ppt/presentation.xml" Id="R63951b2c172846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4121f4905a4b09"/>
  </p:sldMasterIdLst>
  <p:notesMasterIdLst>
    <p:notesMasterId xmlns:r="http://schemas.openxmlformats.org/officeDocument/2006/relationships" r:id="Rc0f7a8d377f74657"/>
  </p:notesMasterIdLst>
  <p:sldIdLst>
    <p:sldId xmlns:r="http://schemas.openxmlformats.org/officeDocument/2006/relationships" id="256" r:id="R46520da1310e4bac"/>
    <p:sldId xmlns:r="http://schemas.openxmlformats.org/officeDocument/2006/relationships" id="257" r:id="R54f87b8fa7144159"/>
    <p:sldId xmlns:r="http://schemas.openxmlformats.org/officeDocument/2006/relationships" id="258" r:id="Rad1ee13049694fd2"/>
    <p:sldId xmlns:r="http://schemas.openxmlformats.org/officeDocument/2006/relationships" id="259" r:id="R8de54332fe73487c"/>
    <p:sldId xmlns:r="http://schemas.openxmlformats.org/officeDocument/2006/relationships" id="260" r:id="R4cfc0bfd12a8491a"/>
    <p:sldId xmlns:r="http://schemas.openxmlformats.org/officeDocument/2006/relationships" id="261" r:id="R7fa37d6dac7f47dd"/>
    <p:sldId xmlns:r="http://schemas.openxmlformats.org/officeDocument/2006/relationships" id="262" r:id="Rbbb9d20de5dc44d1"/>
    <p:sldId xmlns:r="http://schemas.openxmlformats.org/officeDocument/2006/relationships" id="263" r:id="R4eed3aaff5104a9a"/>
    <p:sldId xmlns:r="http://schemas.openxmlformats.org/officeDocument/2006/relationships" id="264" r:id="R7ab3ad5982db4e97"/>
    <p:sldId xmlns:r="http://schemas.openxmlformats.org/officeDocument/2006/relationships" id="265" r:id="Ra7a02cf93c89400b"/>
    <p:sldId xmlns:r="http://schemas.openxmlformats.org/officeDocument/2006/relationships" id="266" r:id="R230d66b213ac4b2a"/>
    <p:sldId xmlns:r="http://schemas.openxmlformats.org/officeDocument/2006/relationships" id="267" r:id="R07d083cbdb4e4ed9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4121f4905a4b09" /><Relationship Type="http://schemas.openxmlformats.org/officeDocument/2006/relationships/theme" Target="/ppt/theme/theme1.xml" Id="R41a4cbca7a60494f" /><Relationship Type="http://schemas.openxmlformats.org/officeDocument/2006/relationships/notesMaster" Target="/ppt/notesMasters/notesMaster1.xml" Id="Rc0f7a8d377f74657" /><Relationship Type="http://schemas.openxmlformats.org/officeDocument/2006/relationships/presProps" Target="/ppt/presProps.xml" Id="R704e3b6ebd8442f2" /><Relationship Type="http://schemas.openxmlformats.org/officeDocument/2006/relationships/viewProps" Target="/ppt/viewProps.xml" Id="R4e6dc60fe56e4167" /><Relationship Type="http://schemas.openxmlformats.org/officeDocument/2006/relationships/tableStyles" Target="/ppt/tableStyles.xml" Id="R45bdb0a816fa4d42" /><Relationship Type="http://schemas.openxmlformats.org/officeDocument/2006/relationships/slide" Target="/ppt/slides/slide1.xml" Id="R46520da1310e4bac" /><Relationship Type="http://schemas.openxmlformats.org/officeDocument/2006/relationships/slide" Target="/ppt/slides/slide2.xml" Id="R54f87b8fa7144159" /><Relationship Type="http://schemas.openxmlformats.org/officeDocument/2006/relationships/slide" Target="/ppt/slides/slide3.xml" Id="Rad1ee13049694fd2" /><Relationship Type="http://schemas.openxmlformats.org/officeDocument/2006/relationships/slide" Target="/ppt/slides/slide4.xml" Id="R8de54332fe73487c" /><Relationship Type="http://schemas.openxmlformats.org/officeDocument/2006/relationships/slide" Target="/ppt/slides/slide5.xml" Id="R4cfc0bfd12a8491a" /><Relationship Type="http://schemas.openxmlformats.org/officeDocument/2006/relationships/slide" Target="/ppt/slides/slide6.xml" Id="R7fa37d6dac7f47dd" /><Relationship Type="http://schemas.openxmlformats.org/officeDocument/2006/relationships/slide" Target="/ppt/slides/slide7.xml" Id="Rbbb9d20de5dc44d1" /><Relationship Type="http://schemas.openxmlformats.org/officeDocument/2006/relationships/slide" Target="/ppt/slides/slide8.xml" Id="R4eed3aaff5104a9a" /><Relationship Type="http://schemas.openxmlformats.org/officeDocument/2006/relationships/slide" Target="/ppt/slides/slide9.xml" Id="R7ab3ad5982db4e97" /><Relationship Type="http://schemas.openxmlformats.org/officeDocument/2006/relationships/slide" Target="/ppt/slides/slide10.xml" Id="Ra7a02cf93c89400b" /><Relationship Type="http://schemas.openxmlformats.org/officeDocument/2006/relationships/slide" Target="/ppt/slides/slide11.xml" Id="R230d66b213ac4b2a" /><Relationship Type="http://schemas.openxmlformats.org/officeDocument/2006/relationships/slide" Target="/ppt/slides/slide12.xml" Id="R07d083cbdb4e4e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46f31ca663c4d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e4172c00e047be" /><Relationship Type="http://schemas.openxmlformats.org/officeDocument/2006/relationships/notesMaster" Target="/ppt/notesMasters/notesMaster1.xml" Id="R12da42127f4746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3ff96d28184085" /><Relationship Type="http://schemas.openxmlformats.org/officeDocument/2006/relationships/notesMaster" Target="/ppt/notesMasters/notesMaster1.xml" Id="Rcf08d29a3fae48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666e1c36304e63" /><Relationship Type="http://schemas.openxmlformats.org/officeDocument/2006/relationships/notesMaster" Target="/ppt/notesMasters/notesMaster1.xml" Id="Rae10c1f2789d45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5cac9ba10c4b92" /><Relationship Type="http://schemas.openxmlformats.org/officeDocument/2006/relationships/notesMaster" Target="/ppt/notesMasters/notesMaster1.xml" Id="R39ccc5e3c9ef44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34a60eebcb4004" /><Relationship Type="http://schemas.openxmlformats.org/officeDocument/2006/relationships/notesMaster" Target="/ppt/notesMasters/notesMaster1.xml" Id="R77c2bfc66b1147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853155eb2547ce" /><Relationship Type="http://schemas.openxmlformats.org/officeDocument/2006/relationships/notesMaster" Target="/ppt/notesMasters/notesMaster1.xml" Id="R749611a9c6a440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8594ef161d443b" /><Relationship Type="http://schemas.openxmlformats.org/officeDocument/2006/relationships/notesMaster" Target="/ppt/notesMasters/notesMaster1.xml" Id="R1737a33ba9db41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567896ee7c54d7e" /><Relationship Type="http://schemas.openxmlformats.org/officeDocument/2006/relationships/notesMaster" Target="/ppt/notesMasters/notesMaster1.xml" Id="R7234a6b7174d40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fee9e35396444fd" /><Relationship Type="http://schemas.openxmlformats.org/officeDocument/2006/relationships/notesMaster" Target="/ppt/notesMasters/notesMaster1.xml" Id="Rf3b9f6643c06478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d038e3073542b4" /><Relationship Type="http://schemas.openxmlformats.org/officeDocument/2006/relationships/notesMaster" Target="/ppt/notesMasters/notesMaster1.xml" Id="R3c257a73744641c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c2051985dbf4d60" /><Relationship Type="http://schemas.openxmlformats.org/officeDocument/2006/relationships/notesMaster" Target="/ppt/notesMasters/notesMaster1.xml" Id="Raccd65e36a0a477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e8332c09c8145f5" /><Relationship Type="http://schemas.openxmlformats.org/officeDocument/2006/relationships/notesMaster" Target="/ppt/notesMasters/notesMaster1.xml" Id="R3a4f9ecb67764a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b8c562fc0144e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4b232d9cb6142d3" /><Relationship Type="http://schemas.openxmlformats.org/officeDocument/2006/relationships/slideLayout" Target="/ppt/slideLayouts/slideLayout2.xml" Id="Rbfbb7945caf34c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bb7945caf34c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b484b2108141db" /><Relationship Type="http://schemas.openxmlformats.org/officeDocument/2006/relationships/notesSlide" Target="/ppt/notesSlides/notesSlide1.xml" Id="R9452954061fe48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e61d8c8f1b4d8a" /><Relationship Type="http://schemas.openxmlformats.org/officeDocument/2006/relationships/notesSlide" Target="/ppt/notesSlides/notesSlide2.xml" Id="R3339787ed7444f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a72124a7ec495b" /><Relationship Type="http://schemas.openxmlformats.org/officeDocument/2006/relationships/notesSlide" Target="/ppt/notesSlides/notesSlide3.xml" Id="R6c5bf99014514f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90f86056af4e98" /><Relationship Type="http://schemas.openxmlformats.org/officeDocument/2006/relationships/notesSlide" Target="/ppt/notesSlides/notesSlide4.xml" Id="Rf28d70fadda14f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9214b46fde43ec" /><Relationship Type="http://schemas.openxmlformats.org/officeDocument/2006/relationships/notesSlide" Target="/ppt/notesSlides/notesSlide5.xml" Id="R76b97f12a1d243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df912509c84e12" /><Relationship Type="http://schemas.openxmlformats.org/officeDocument/2006/relationships/notesSlide" Target="/ppt/notesSlides/notesSlide6.xml" Id="Re12520d5152640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d97315970e4327" /><Relationship Type="http://schemas.openxmlformats.org/officeDocument/2006/relationships/notesSlide" Target="/ppt/notesSlides/notesSlide7.xml" Id="R144c765664fe47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e6a098acee422e" /><Relationship Type="http://schemas.openxmlformats.org/officeDocument/2006/relationships/notesSlide" Target="/ppt/notesSlides/notesSlide8.xml" Id="R238c5e983ffe47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6ceff252f14367" /><Relationship Type="http://schemas.openxmlformats.org/officeDocument/2006/relationships/notesSlide" Target="/ppt/notesSlides/notesSlide9.xml" Id="Rbc227cbd640f41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78cc75c0c44425" /><Relationship Type="http://schemas.openxmlformats.org/officeDocument/2006/relationships/notesSlide" Target="/ppt/notesSlides/notesSlide10.xml" Id="R8e69bdeb2ac9453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99899808db49ed" /><Relationship Type="http://schemas.openxmlformats.org/officeDocument/2006/relationships/notesSlide" Target="/ppt/notesSlides/notesSlide11.xml" Id="R4390c5ce79d24ce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233af2ad984423" /><Relationship Type="http://schemas.openxmlformats.org/officeDocument/2006/relationships/notesSlide" Target="/ppt/notesSlides/notesSlide12.xml" Id="Ra2fae860585e4c4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8FA8A6-6E72-4961-845F-4E511F62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B202B-A9F0-446A-A233-2719FEDC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3" name="cover-number">
            <a:extLst xmlns:a="http://schemas.openxmlformats.org/drawingml/2006/main">
              <a:ext uri="{FF2B5EF4-FFF2-40B4-BE49-F238E27FC236}">
                <a16:creationId xmlns:a16="http://schemas.microsoft.com/office/drawing/2014/main" id="{3AF0E5DC-6972-46CE-9F4C-8125D1BE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47750"/>
            <a:ext cx="4000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F6D365"/>
                </a:solidFill>
                <a:latin typeface="Malgun Gothic"/>
                <a:ea typeface="Malgun Gothic"/>
                <a:cs typeface="Malgun Gothic"/>
              </a:defRPr>
            </a:pPr>
            <a:r>
              <a:t>02.5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5920BBB-E107-4BC9-BC87-5DE44EEF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857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t>JavaScript</a:t>
            </a:r>
          </a:p>
          <a:p xmlns:a="http://schemas.openxmlformats.org/drawingml/2006/main">
            <a:pPr algn="l">
              <a:defRPr sz="55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t>기초와</a:t>
            </a:r>
          </a:p>
          <a:p xmlns:a="http://schemas.openxmlformats.org/drawingml/2006/main">
            <a:pPr algn="l">
              <a:defRPr sz="55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t>Express 입문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69B210E-8EC4-46F9-902E-B38E44CE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095875"/>
            <a:ext cx="838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F6B73"/>
                </a:solidFill>
                <a:latin typeface="Malgun Gothic"/>
                <a:ea typeface="Malgun Gothic"/>
                <a:cs typeface="Malgun Gothic"/>
              </a:defRPr>
            </a:pPr>
            <a:r>
              <a:t>C언어를 조금 아는 학생이 Node.js 서버 코드를 읽기 위한 최소 문법</a:t>
            </a:r>
          </a:p>
        </p:txBody>
      </p:sp>
      <p:sp>
        <p:nvSpPr>
          <p:cNvPr id="6" name="cover-code-box">
            <a:extLst xmlns:a="http://schemas.openxmlformats.org/drawingml/2006/main">
              <a:ext uri="{FF2B5EF4-FFF2-40B4-BE49-F238E27FC236}">
                <a16:creationId xmlns:a16="http://schemas.microsoft.com/office/drawing/2014/main" id="{313EC019-B36E-4B84-934B-A249703D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41719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9050">
            <a:solidFill>
              <a:srgbClr val="293645"/>
            </a:solidFill>
            <a:prstDash val="solid"/>
          </a:ln>
        </p:spPr>
      </p:sp>
      <p:sp>
        <p:nvSpPr>
          <p:cNvPr id="7" name="cover-code">
            <a:extLst xmlns:a="http://schemas.openxmlformats.org/drawingml/2006/main">
              <a:ext uri="{FF2B5EF4-FFF2-40B4-BE49-F238E27FC236}">
                <a16:creationId xmlns:a16="http://schemas.microsoft.com/office/drawing/2014/main" id="{14C07D6B-9D57-498F-A28E-EAACA1E2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524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const express = require('express');</a:t>
            </a:r>
          </a:p>
          <a:p xmlns:a="http://schemas.openxmlformats.org/drawingml/2006/main">
            <a:pPr algn="l">
              <a:defRPr sz="15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app.get('/', (req, res) =&gt; {</a:t>
            </a:r>
          </a:p>
          <a:p xmlns:a="http://schemas.openxmlformats.org/drawingml/2006/main">
            <a:pPr algn="l">
              <a:defRPr sz="15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  res.json({ message: 'Hello' });</a:t>
            </a:r>
          </a:p>
          <a:p xmlns:a="http://schemas.openxmlformats.org/drawingml/2006/main">
            <a:pPr algn="l">
              <a:defRPr sz="15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});</a:t>
            </a:r>
          </a:p>
        </p:txBody>
      </p:sp>
      <p:sp>
        <p:nvSpPr>
          <p:cNvPr id="8" name="pill-variables">
            <a:extLst xmlns:a="http://schemas.openxmlformats.org/drawingml/2006/main">
              <a:ext uri="{FF2B5EF4-FFF2-40B4-BE49-F238E27FC236}">
                <a16:creationId xmlns:a16="http://schemas.microsoft.com/office/drawing/2014/main" id="{BF8D55D5-46B3-4FD9-9B3A-C8EBDC24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66865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variables</a:t>
            </a:r>
          </a:p>
        </p:txBody>
      </p:sp>
      <p:sp>
        <p:nvSpPr>
          <p:cNvPr id="9" name="pill-objects">
            <a:extLst xmlns:a="http://schemas.openxmlformats.org/drawingml/2006/main">
              <a:ext uri="{FF2B5EF4-FFF2-40B4-BE49-F238E27FC236}">
                <a16:creationId xmlns:a16="http://schemas.microsoft.com/office/drawing/2014/main" id="{82886BC8-D284-4D5C-BD6A-D6112132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686550"/>
            <a:ext cx="128587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objects</a:t>
            </a:r>
          </a:p>
        </p:txBody>
      </p:sp>
      <p:sp>
        <p:nvSpPr>
          <p:cNvPr id="10" name="pill-async">
            <a:extLst xmlns:a="http://schemas.openxmlformats.org/drawingml/2006/main">
              <a:ext uri="{FF2B5EF4-FFF2-40B4-BE49-F238E27FC236}">
                <a16:creationId xmlns:a16="http://schemas.microsoft.com/office/drawing/2014/main" id="{DD5B4084-06AA-46F0-B2E3-9FF1A5CB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6686550"/>
            <a:ext cx="1066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async</a:t>
            </a:r>
          </a:p>
        </p:txBody>
      </p:sp>
      <p:sp>
        <p:nvSpPr>
          <p:cNvPr id="11" name="pill-express">
            <a:extLst xmlns:a="http://schemas.openxmlformats.org/drawingml/2006/main">
              <a:ext uri="{FF2B5EF4-FFF2-40B4-BE49-F238E27FC236}">
                <a16:creationId xmlns:a16="http://schemas.microsoft.com/office/drawing/2014/main" id="{9AC4603D-BD20-4195-8CCE-753639AB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86550"/>
            <a:ext cx="1257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express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6A9E2F8F-25FA-4543-BBE7-EB4AACDE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6202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3"/>
                </a:solidFill>
                <a:latin typeface="Malgun Gothic"/>
                <a:ea typeface="Malgun Gothic"/>
                <a:cs typeface="Malgun Gothic"/>
              </a:defRPr>
            </a:pPr>
            <a:r>
              <a:t>Chapter 02.5  JavaScript + Node.js + Express  |  01</a:t>
            </a:r>
          </a:p>
        </p:txBody>
      </p:sp>
    </p:spTree>
    <p:extLst>
      <p:ext uri="{BB962C8B-B14F-4D97-AF65-F5344CB8AC3E}">
        <p14:creationId xmlns:p14="http://schemas.microsoft.com/office/powerpoint/2010/main" val="9679543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A8F0A5-D800-47AD-891E-8E1ACDE0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30E7CE-6455-4290-83CC-7D221BA2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23900"/>
            <a:ext cx="1390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t>왜 Express 전에 JavaScript를 배우나?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CBCA3C1-50BF-4622-8C73-4E4C21C1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8115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B73"/>
                </a:solidFill>
                <a:latin typeface="Malgun Gothic"/>
                <a:ea typeface="Malgun Gothic"/>
                <a:cs typeface="Malgun Gothic"/>
              </a:defRPr>
            </a:pPr>
            <a:r>
              <a:t>Express 코드는 새로운 마법이 아니라 JavaScript 문법의 조합입니다.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4A1833-A7D0-4DA6-942C-2F713BF5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3D097C53-36CB-44B8-BDC3-6F298738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읽어야 할 것</a:t>
            </a:r>
          </a:p>
        </p:txBody>
      </p:sp>
      <p:sp>
        <p:nvSpPr>
          <p:cNvPr id="6" name="bullets">
            <a:extLst xmlns:a="http://schemas.openxmlformats.org/drawingml/2006/main">
              <a:ext uri="{FF2B5EF4-FFF2-40B4-BE49-F238E27FC236}">
                <a16:creationId xmlns:a16="http://schemas.microsoft.com/office/drawing/2014/main" id="{6447D71F-3DF7-4E9B-8E6F-97085230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10000"/>
            <a:ext cx="6477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t>• 함수: 요청이 들어오면 실행되는 코드</a:t>
            </a:r>
          </a:p>
          <a:p xmlns:a="http://schemas.openxmlformats.org/drawingml/2006/main">
            <a:pPr algn="l">
              <a:defRPr sz="22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t>• 객체: 요청/응답 데이터의 기본 모양</a:t>
            </a:r>
          </a:p>
          <a:p xmlns:a="http://schemas.openxmlformats.org/drawingml/2006/main">
            <a:pPr algn="l">
              <a:defRPr sz="22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t>• 배열: 목록 조회와 검색</a:t>
            </a:r>
          </a:p>
          <a:p xmlns:a="http://schemas.openxmlformats.org/drawingml/2006/main">
            <a:pPr algn="l">
              <a:defRPr sz="22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t>• 비동기: DB와 외부 API 호출</a:t>
            </a:r>
          </a:p>
        </p:txBody>
      </p:sp>
      <p:sp>
        <p:nvSpPr>
          <p:cNvPr id="7" name="code-block-box">
            <a:extLst xmlns:a="http://schemas.openxmlformats.org/drawingml/2006/main">
              <a:ext uri="{FF2B5EF4-FFF2-40B4-BE49-F238E27FC236}">
                <a16:creationId xmlns:a16="http://schemas.microsoft.com/office/drawing/2014/main" id="{5C932694-CEA4-4102-BE17-2700C071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19450"/>
            <a:ext cx="790575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9050">
            <a:solidFill>
              <a:srgbClr val="293645"/>
            </a:solidFill>
            <a:prstDash val="solid"/>
          </a:ln>
        </p:spPr>
      </p:sp>
      <p:sp>
        <p:nvSpPr>
          <p:cNvPr id="8" name="code-block">
            <a:extLst xmlns:a="http://schemas.openxmlformats.org/drawingml/2006/main">
              <a:ext uri="{FF2B5EF4-FFF2-40B4-BE49-F238E27FC236}">
                <a16:creationId xmlns:a16="http://schemas.microsoft.com/office/drawing/2014/main" id="{589B2030-1866-4A40-887B-11FE46F3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05200"/>
            <a:ext cx="725805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app.get('/api/students/:id', (req, res) =&gt; {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  const id = Number(req.params.id);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  const student = students.find((item) =&gt; item.id === id);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  res.json(student);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});</a:t>
            </a:r>
          </a:p>
        </p:txBody>
      </p:sp>
      <p:sp>
        <p:nvSpPr>
          <p:cNvPr id="9" name="lesson-goal">
            <a:extLst xmlns:a="http://schemas.openxmlformats.org/drawingml/2006/main">
              <a:ext uri="{FF2B5EF4-FFF2-40B4-BE49-F238E27FC236}">
                <a16:creationId xmlns:a16="http://schemas.microsoft.com/office/drawing/2014/main" id="{54728643-3537-4994-8239-ED854F24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543800"/>
            <a:ext cx="1276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t>오늘 목표: 이 코드를 “외워서”가 아니라 “읽어서” 이해하기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B10E2C20-CB3B-4245-A102-48869CBE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6202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3"/>
                </a:solidFill>
                <a:latin typeface="Malgun Gothic"/>
                <a:ea typeface="Malgun Gothic"/>
                <a:cs typeface="Malgun Gothic"/>
              </a:defRPr>
            </a:pPr>
            <a:r>
              <a:t>Chapter 02.5  JavaScript + Node.js + Express  |  02</a:t>
            </a:r>
          </a:p>
        </p:txBody>
      </p:sp>
    </p:spTree>
    <p:extLst>
      <p:ext uri="{BB962C8B-B14F-4D97-AF65-F5344CB8AC3E}">
        <p14:creationId xmlns:p14="http://schemas.microsoft.com/office/powerpoint/2010/main" val="10446338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458995-0DFE-4E53-A89F-CAE7187B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DD4E9E-112C-4E67-B2D7-DF928BA0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23900"/>
            <a:ext cx="1390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t>C언어와 JavaScript의 차이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ACB15B5-DCA5-4A91-888F-0AF590BE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8115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B73"/>
                </a:solidFill>
                <a:latin typeface="Malgun Gothic"/>
                <a:ea typeface="Malgun Gothic"/>
                <a:cs typeface="Malgun Gothic"/>
              </a:defRPr>
            </a:pPr>
            <a:r>
              <a:t>비슷한 중괄호 문법, 다른 실행 모델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B390E-F6AB-4253-9300-8856854D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5" name="c-head">
            <a:extLst xmlns:a="http://schemas.openxmlformats.org/drawingml/2006/main">
              <a:ext uri="{FF2B5EF4-FFF2-40B4-BE49-F238E27FC236}">
                <a16:creationId xmlns:a16="http://schemas.microsoft.com/office/drawing/2014/main" id="{2879E88A-E4D3-4B58-91C4-CB80C972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C언어</a:t>
            </a:r>
          </a:p>
        </p:txBody>
      </p:sp>
      <p:sp>
        <p:nvSpPr>
          <p:cNvPr id="6" name="js-head">
            <a:extLst xmlns:a="http://schemas.openxmlformats.org/drawingml/2006/main">
              <a:ext uri="{FF2B5EF4-FFF2-40B4-BE49-F238E27FC236}">
                <a16:creationId xmlns:a16="http://schemas.microsoft.com/office/drawing/2014/main" id="{1F7229F0-6D38-4B73-A56C-7361BC29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4325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defRPr>
            </a:pPr>
            <a:r>
              <a:t>JavaScript</a:t>
            </a:r>
          </a:p>
        </p:txBody>
      </p:sp>
      <p:sp>
        <p:nvSpPr>
          <p:cNvPr id="7" name="compare-key-0">
            <a:extLst xmlns:a="http://schemas.openxmlformats.org/drawingml/2006/main">
              <a:ext uri="{FF2B5EF4-FFF2-40B4-BE49-F238E27FC236}">
                <a16:creationId xmlns:a16="http://schemas.microsoft.com/office/drawing/2014/main" id="{1005433A-026E-4FEE-8C00-E12281CC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005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F6B73"/>
                </a:solidFill>
                <a:latin typeface="Malgun Gothic"/>
                <a:ea typeface="Malgun Gothic"/>
                <a:cs typeface="Malgun Gothic"/>
              </a:defRPr>
            </a:pPr>
            <a:r>
              <a:t>실행</a:t>
            </a:r>
          </a:p>
        </p:txBody>
      </p:sp>
      <p:sp>
        <p:nvSpPr>
          <p:cNvPr id="8" name="compare-c-0">
            <a:extLst xmlns:a="http://schemas.openxmlformats.org/drawingml/2006/main">
              <a:ext uri="{FF2B5EF4-FFF2-40B4-BE49-F238E27FC236}">
                <a16:creationId xmlns:a16="http://schemas.microsoft.com/office/drawing/2014/main" id="{9A4C28AD-1AB3-4D19-912A-B43D391A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0050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t>컴파일 후 실행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0A609-1E37-402A-8C82-3F89D940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1719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solidFill>
              <a:srgbClr val="D9D4C7"/>
            </a:solidFill>
            <a:prstDash val="solid"/>
          </a:ln>
        </p:spPr>
      </p:sp>
      <p:sp>
        <p:nvSpPr>
          <p:cNvPr id="10" name="compare-js-0">
            <a:extLst xmlns:a="http://schemas.openxmlformats.org/drawingml/2006/main">
              <a:ext uri="{FF2B5EF4-FFF2-40B4-BE49-F238E27FC236}">
                <a16:creationId xmlns:a16="http://schemas.microsoft.com/office/drawing/2014/main" id="{75CAEEEC-65B2-42B1-8A67-628ACE5E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t>Node.js가 바로 실행</a:t>
            </a:r>
          </a:p>
        </p:txBody>
      </p:sp>
      <p:sp>
        <p:nvSpPr>
          <p:cNvPr id="11" name="compare-key-1">
            <a:extLst xmlns:a="http://schemas.openxmlformats.org/drawingml/2006/main">
              <a:ext uri="{FF2B5EF4-FFF2-40B4-BE49-F238E27FC236}">
                <a16:creationId xmlns:a16="http://schemas.microsoft.com/office/drawing/2014/main" id="{CA294EC1-1613-4E33-B98E-B66820A6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673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F6B73"/>
                </a:solidFill>
                <a:latin typeface="Malgun Gothic"/>
                <a:ea typeface="Malgun Gothic"/>
                <a:cs typeface="Malgun Gothic"/>
              </a:defRPr>
            </a:pPr>
            <a:r>
              <a:t>타입</a:t>
            </a:r>
          </a:p>
        </p:txBody>
      </p:sp>
      <p:sp>
        <p:nvSpPr>
          <p:cNvPr id="12" name="compare-c-1">
            <a:extLst xmlns:a="http://schemas.openxmlformats.org/drawingml/2006/main">
              <a:ext uri="{FF2B5EF4-FFF2-40B4-BE49-F238E27FC236}">
                <a16:creationId xmlns:a16="http://schemas.microsoft.com/office/drawing/2014/main" id="{65FD79E3-1C76-4553-9B58-46765E6E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6730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t>int, char처럼 명시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965941-E171-4B2D-AD08-F8A7C5C6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2387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solidFill>
              <a:srgbClr val="D9D4C7"/>
            </a:solidFill>
            <a:prstDash val="solid"/>
          </a:ln>
        </p:spPr>
      </p:sp>
      <p:sp>
        <p:nvSpPr>
          <p:cNvPr id="14" name="compare-js-1">
            <a:extLst xmlns:a="http://schemas.openxmlformats.org/drawingml/2006/main">
              <a:ext uri="{FF2B5EF4-FFF2-40B4-BE49-F238E27FC236}">
                <a16:creationId xmlns:a16="http://schemas.microsoft.com/office/drawing/2014/main" id="{A56A252B-16BF-4C23-9F42-433A60C2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06730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t>값에 따라 런타임에 결정</a:t>
            </a:r>
          </a:p>
        </p:txBody>
      </p:sp>
      <p:sp>
        <p:nvSpPr>
          <p:cNvPr id="15" name="compare-key-2">
            <a:extLst xmlns:a="http://schemas.openxmlformats.org/drawingml/2006/main">
              <a:ext uri="{FF2B5EF4-FFF2-40B4-BE49-F238E27FC236}">
                <a16:creationId xmlns:a16="http://schemas.microsoft.com/office/drawing/2014/main" id="{9A4C6DCC-6C16-4B67-AC9A-00D8EAA7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1341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F6B73"/>
                </a:solidFill>
                <a:latin typeface="Malgun Gothic"/>
                <a:ea typeface="Malgun Gothic"/>
                <a:cs typeface="Malgun Gothic"/>
              </a:defRPr>
            </a:pPr>
            <a:r>
              <a:t>객체</a:t>
            </a:r>
          </a:p>
        </p:txBody>
      </p:sp>
      <p:sp>
        <p:nvSpPr>
          <p:cNvPr id="16" name="compare-c-2">
            <a:extLst xmlns:a="http://schemas.openxmlformats.org/drawingml/2006/main">
              <a:ext uri="{FF2B5EF4-FFF2-40B4-BE49-F238E27FC236}">
                <a16:creationId xmlns:a16="http://schemas.microsoft.com/office/drawing/2014/main" id="{A1AFA96D-F993-49B6-AB05-709EE4E1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13410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t>struct에 가까움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F3F4CB-36C2-4C3A-9BBC-58EABB8F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3055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solidFill>
              <a:srgbClr val="D9D4C7"/>
            </a:solidFill>
            <a:prstDash val="solid"/>
          </a:ln>
        </p:spPr>
      </p:sp>
      <p:sp>
        <p:nvSpPr>
          <p:cNvPr id="18" name="compare-js-2">
            <a:extLst xmlns:a="http://schemas.openxmlformats.org/drawingml/2006/main">
              <a:ext uri="{FF2B5EF4-FFF2-40B4-BE49-F238E27FC236}">
                <a16:creationId xmlns:a16="http://schemas.microsoft.com/office/drawing/2014/main" id="{12C2ECF9-990A-4FB2-9E48-51E65C8A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13410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t>서버 데이터의 기본 단위</a:t>
            </a:r>
          </a:p>
        </p:txBody>
      </p:sp>
      <p:sp>
        <p:nvSpPr>
          <p:cNvPr id="19" name="compare-key-3">
            <a:extLst xmlns:a="http://schemas.openxmlformats.org/drawingml/2006/main">
              <a:ext uri="{FF2B5EF4-FFF2-40B4-BE49-F238E27FC236}">
                <a16:creationId xmlns:a16="http://schemas.microsoft.com/office/drawing/2014/main" id="{418D5F99-B197-45F1-A6F8-E416DB30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009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F6B73"/>
                </a:solidFill>
                <a:latin typeface="Malgun Gothic"/>
                <a:ea typeface="Malgun Gothic"/>
                <a:cs typeface="Malgun Gothic"/>
              </a:defRPr>
            </a:pPr>
            <a:r>
              <a:t>주 사용처</a:t>
            </a:r>
          </a:p>
        </p:txBody>
      </p:sp>
      <p:sp>
        <p:nvSpPr>
          <p:cNvPr id="20" name="compare-c-3">
            <a:extLst xmlns:a="http://schemas.openxmlformats.org/drawingml/2006/main">
              <a:ext uri="{FF2B5EF4-FFF2-40B4-BE49-F238E27FC236}">
                <a16:creationId xmlns:a16="http://schemas.microsoft.com/office/drawing/2014/main" id="{FB2A590C-C977-42DE-BF1F-01EE0F88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720090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t>시스템/임베디드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1E44F4-5528-41AC-A6A3-CEC67E08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73723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solidFill>
              <a:srgbClr val="D9D4C7"/>
            </a:solidFill>
            <a:prstDash val="solid"/>
          </a:ln>
        </p:spPr>
      </p:sp>
      <p:sp>
        <p:nvSpPr>
          <p:cNvPr id="22" name="compare-js-3">
            <a:extLst xmlns:a="http://schemas.openxmlformats.org/drawingml/2006/main">
              <a:ext uri="{FF2B5EF4-FFF2-40B4-BE49-F238E27FC236}">
                <a16:creationId xmlns:a16="http://schemas.microsoft.com/office/drawing/2014/main" id="{6D26E332-0554-4EE7-9A93-7C551775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20090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t>웹/서버/API</a:t>
            </a:r>
          </a:p>
        </p:txBody>
      </p:sp>
      <p:sp>
        <p:nvSpPr>
          <p:cNvPr id="23" name="footer">
            <a:extLst xmlns:a="http://schemas.openxmlformats.org/drawingml/2006/main">
              <a:ext uri="{FF2B5EF4-FFF2-40B4-BE49-F238E27FC236}">
                <a16:creationId xmlns:a16="http://schemas.microsoft.com/office/drawing/2014/main" id="{52533388-D9C0-4E01-AF28-1C4A8B09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6202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3"/>
                </a:solidFill>
                <a:latin typeface="Malgun Gothic"/>
                <a:ea typeface="Malgun Gothic"/>
                <a:cs typeface="Malgun Gothic"/>
              </a:defRPr>
            </a:pPr>
            <a:r>
              <a:t>Chapter 02.5  JavaScript + Node.js + Express  |  03</a:t>
            </a:r>
          </a:p>
        </p:txBody>
      </p:sp>
    </p:spTree>
    <p:extLst>
      <p:ext uri="{BB962C8B-B14F-4D97-AF65-F5344CB8AC3E}">
        <p14:creationId xmlns:p14="http://schemas.microsoft.com/office/powerpoint/2010/main" val="60175213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9358A7-4A14-4A76-8FBB-9E9EA606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041E860-500E-42B7-B257-7869B8A0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23900"/>
            <a:ext cx="1390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t>변수는 let, 상수는 const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C571D95-D0AF-4EE3-8FDB-0B91A1C3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8115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B73"/>
                </a:solidFill>
                <a:latin typeface="Malgun Gothic"/>
                <a:ea typeface="Malgun Gothic"/>
                <a:cs typeface="Malgun Gothic"/>
              </a:defRPr>
            </a:pPr>
            <a:r>
              <a:t>타입 이름 대신 값의 변경 가능성을 먼저 표현합니다.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4752ED-3614-4158-861E-66E8A27C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5" name="code-block-box">
            <a:extLst xmlns:a="http://schemas.openxmlformats.org/drawingml/2006/main">
              <a:ext uri="{FF2B5EF4-FFF2-40B4-BE49-F238E27FC236}">
                <a16:creationId xmlns:a16="http://schemas.microsoft.com/office/drawing/2014/main" id="{32E60A54-FE4F-40A2-9F9E-FDA0DCCC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19450"/>
            <a:ext cx="7620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9050">
            <a:solidFill>
              <a:srgbClr val="293645"/>
            </a:solidFill>
            <a:prstDash val="solid"/>
          </a:ln>
        </p:spPr>
      </p:sp>
      <p:sp>
        <p:nvSpPr>
          <p:cNvPr id="6" name="code-block">
            <a:extLst xmlns:a="http://schemas.openxmlformats.org/drawingml/2006/main">
              <a:ext uri="{FF2B5EF4-FFF2-40B4-BE49-F238E27FC236}">
                <a16:creationId xmlns:a16="http://schemas.microsoft.com/office/drawing/2014/main" id="{8ECCE294-7B4B-40A6-A733-E3CDFDB1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05200"/>
            <a:ext cx="69723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let score = 85;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const name = '지민';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const passed = score &gt;= 60;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score = 92;       // 가능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name = '서연';    // 오류</a:t>
            </a:r>
          </a:p>
        </p:txBody>
      </p:sp>
      <p:sp>
        <p:nvSpPr>
          <p:cNvPr id="7" name="bullets">
            <a:extLst xmlns:a="http://schemas.openxmlformats.org/drawingml/2006/main">
              <a:ext uri="{FF2B5EF4-FFF2-40B4-BE49-F238E27FC236}">
                <a16:creationId xmlns:a16="http://schemas.microsoft.com/office/drawing/2014/main" id="{69ADBDC8-ECFC-4D64-9B8F-742A8CD8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81375"/>
            <a:ext cx="6477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t>• 다시 대입할 값이면 let</a:t>
            </a:r>
          </a:p>
          <a:p xmlns:a="http://schemas.openxmlformats.org/drawingml/2006/main">
            <a:pPr algn="l">
              <a:defRPr sz="23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t>• 바꾸지 않을 값이면 const</a:t>
            </a:r>
          </a:p>
          <a:p xmlns:a="http://schemas.openxmlformats.org/drawingml/2006/main">
            <a:pPr algn="l">
              <a:defRPr sz="23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t>• var는 오래된 문법이라 수업에서는 제외</a:t>
            </a:r>
          </a:p>
          <a:p xmlns:a="http://schemas.openxmlformats.org/drawingml/2006/main">
            <a:pPr algn="l">
              <a:defRPr sz="23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t>• typeof로 현재 값의 타입 확인 가능</a:t>
            </a:r>
          </a:p>
        </p:txBody>
      </p:sp>
      <p:sp>
        <p:nvSpPr>
          <p:cNvPr id="8" name="warning">
            <a:extLst xmlns:a="http://schemas.openxmlformats.org/drawingml/2006/main">
              <a:ext uri="{FF2B5EF4-FFF2-40B4-BE49-F238E27FC236}">
                <a16:creationId xmlns:a16="http://schemas.microsoft.com/office/drawing/2014/main" id="{DD220640-F223-474E-9837-3A831488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810500"/>
            <a:ext cx="1409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defRPr>
            </a:pPr>
            <a:r>
              <a:t>주의: JavaScript는 타입이 느슨합니다. 편하지만, 값의 모양을 의식해야 합니다.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14D257CE-8DAE-40FB-B2CB-B885B981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6202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3"/>
                </a:solidFill>
                <a:latin typeface="Malgun Gothic"/>
                <a:ea typeface="Malgun Gothic"/>
                <a:cs typeface="Malgun Gothic"/>
              </a:defRPr>
            </a:pPr>
            <a:r>
              <a:t>Chapter 02.5  JavaScript + Node.js + Express  |  04</a:t>
            </a:r>
          </a:p>
        </p:txBody>
      </p:sp>
    </p:spTree>
    <p:extLst>
      <p:ext uri="{BB962C8B-B14F-4D97-AF65-F5344CB8AC3E}">
        <p14:creationId xmlns:p14="http://schemas.microsoft.com/office/powerpoint/2010/main" val="29685327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5C6021-3A33-4913-A781-4167EDF8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926103-4457-45F8-AC84-8A0342E7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23900"/>
            <a:ext cx="1390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t>함수: Express의 핵심 재료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4ECC2BC-D29E-447B-867C-003661D7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8115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B73"/>
                </a:solidFill>
                <a:latin typeface="Malgun Gothic"/>
                <a:ea typeface="Malgun Gothic"/>
                <a:cs typeface="Malgun Gothic"/>
              </a:defRPr>
            </a:pPr>
            <a:r>
              <a:t>라우터에 넘기는 것도 결국 함수입니다.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F607AA-FB05-4DAF-9AEF-DAAE4875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5" name="code-block-box">
            <a:extLst xmlns:a="http://schemas.openxmlformats.org/drawingml/2006/main">
              <a:ext uri="{FF2B5EF4-FFF2-40B4-BE49-F238E27FC236}">
                <a16:creationId xmlns:a16="http://schemas.microsoft.com/office/drawing/2014/main" id="{9467BB41-10B0-4162-A323-3C9E539D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0"/>
            <a:ext cx="72390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9050">
            <a:solidFill>
              <a:srgbClr val="293645"/>
            </a:solidFill>
            <a:prstDash val="solid"/>
          </a:ln>
        </p:spPr>
      </p:sp>
      <p:sp>
        <p:nvSpPr>
          <p:cNvPr id="6" name="code-block">
            <a:extLst xmlns:a="http://schemas.openxmlformats.org/drawingml/2006/main">
              <a:ext uri="{FF2B5EF4-FFF2-40B4-BE49-F238E27FC236}">
                <a16:creationId xmlns:a16="http://schemas.microsoft.com/office/drawing/2014/main" id="{457B81F2-DB9F-46B4-BBDF-AEB2F0A2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33750"/>
            <a:ext cx="65913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function add(a, b) {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  return a + b;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const multiply = (a, b) =&gt; {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  return a * b;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};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const square = (n) =&gt; n * n;</a:t>
            </a:r>
          </a:p>
        </p:txBody>
      </p:sp>
      <p:sp>
        <p:nvSpPr>
          <p:cNvPr id="7" name="express-function-code-box">
            <a:extLst xmlns:a="http://schemas.openxmlformats.org/drawingml/2006/main">
              <a:ext uri="{FF2B5EF4-FFF2-40B4-BE49-F238E27FC236}">
                <a16:creationId xmlns:a16="http://schemas.microsoft.com/office/drawing/2014/main" id="{CDE3F183-BBED-430A-8FC2-F9D15159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14750"/>
            <a:ext cx="6858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9050">
            <a:solidFill>
              <a:srgbClr val="293645"/>
            </a:solidFill>
            <a:prstDash val="solid"/>
          </a:ln>
        </p:spPr>
      </p:sp>
      <p:sp>
        <p:nvSpPr>
          <p:cNvPr id="8" name="express-function-code">
            <a:extLst xmlns:a="http://schemas.openxmlformats.org/drawingml/2006/main">
              <a:ext uri="{FF2B5EF4-FFF2-40B4-BE49-F238E27FC236}">
                <a16:creationId xmlns:a16="http://schemas.microsoft.com/office/drawing/2014/main" id="{7E3007AF-51A6-487E-A17E-48BD35C1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000500"/>
            <a:ext cx="62103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app.get('/', (req, res) =&gt; {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  res.json({ message: 'Hello' });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});</a:t>
            </a:r>
          </a:p>
        </p:txBody>
      </p:sp>
      <p:sp>
        <p:nvSpPr>
          <p:cNvPr id="9" name="function-callout">
            <a:extLst xmlns:a="http://schemas.openxmlformats.org/drawingml/2006/main">
              <a:ext uri="{FF2B5EF4-FFF2-40B4-BE49-F238E27FC236}">
                <a16:creationId xmlns:a16="http://schemas.microsoft.com/office/drawing/2014/main" id="{8AE35F2D-5583-4FDC-8BD8-24E35863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72250"/>
            <a:ext cx="619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(req, res) =&gt; { ... }</a:t>
            </a:r>
          </a:p>
          <a:p xmlns:a="http://schemas.openxmlformats.org/drawingml/2006/main">
            <a:pPr algn="ctr">
              <a:defRPr sz="25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요청을 처리하는 함수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3115A0A9-3E4A-4F66-91D3-FA6284EB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6202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3"/>
                </a:solidFill>
                <a:latin typeface="Malgun Gothic"/>
                <a:ea typeface="Malgun Gothic"/>
                <a:cs typeface="Malgun Gothic"/>
              </a:defRPr>
            </a:pPr>
            <a:r>
              <a:t>Chapter 02.5  JavaScript + Node.js + Express  |  05</a:t>
            </a:r>
          </a:p>
        </p:txBody>
      </p:sp>
    </p:spTree>
    <p:extLst>
      <p:ext uri="{BB962C8B-B14F-4D97-AF65-F5344CB8AC3E}">
        <p14:creationId xmlns:p14="http://schemas.microsoft.com/office/powerpoint/2010/main" val="121139685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9BD9A3-8677-4415-9E73-FA1E0F5B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7F0BD51-790E-4AC2-A8D1-435A287C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23900"/>
            <a:ext cx="1390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t>배열과 객체: API 데이터의 기본 모양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F9E2A95-04C6-440A-A374-D8B1B992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8115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B73"/>
                </a:solidFill>
                <a:latin typeface="Malgun Gothic"/>
                <a:ea typeface="Malgun Gothic"/>
                <a:cs typeface="Malgun Gothic"/>
              </a:defRPr>
            </a:pPr>
            <a:r>
              <a:t>목록은 배열, 한 명의 학생은 객체로 표현합니다.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C729A-91D9-486C-832E-933869ED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5" name="code-block-box">
            <a:extLst xmlns:a="http://schemas.openxmlformats.org/drawingml/2006/main">
              <a:ext uri="{FF2B5EF4-FFF2-40B4-BE49-F238E27FC236}">
                <a16:creationId xmlns:a16="http://schemas.microsoft.com/office/drawing/2014/main" id="{AEFC0E80-CA63-41CC-BDD6-CF7CF905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0"/>
            <a:ext cx="67627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9050">
            <a:solidFill>
              <a:srgbClr val="293645"/>
            </a:solidFill>
            <a:prstDash val="solid"/>
          </a:ln>
        </p:spPr>
      </p:sp>
      <p:sp>
        <p:nvSpPr>
          <p:cNvPr id="6" name="code-block">
            <a:extLst xmlns:a="http://schemas.openxmlformats.org/drawingml/2006/main">
              <a:ext uri="{FF2B5EF4-FFF2-40B4-BE49-F238E27FC236}">
                <a16:creationId xmlns:a16="http://schemas.microsoft.com/office/drawing/2014/main" id="{CD29AE39-BDEE-4E82-A64D-16D13A8A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33750"/>
            <a:ext cx="6115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const student = {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  id: 1,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  name: '지민',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  major: 'Computer Science',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};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const students = [student];</a:t>
            </a:r>
          </a:p>
        </p:txBody>
      </p:sp>
      <p:sp>
        <p:nvSpPr>
          <p:cNvPr id="7" name="array-method-code-box">
            <a:extLst xmlns:a="http://schemas.openxmlformats.org/drawingml/2006/main">
              <a:ext uri="{FF2B5EF4-FFF2-40B4-BE49-F238E27FC236}">
                <a16:creationId xmlns:a16="http://schemas.microsoft.com/office/drawing/2014/main" id="{D81B1758-DEA3-4605-8406-31844116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0"/>
            <a:ext cx="8096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9050">
            <a:solidFill>
              <a:srgbClr val="293645"/>
            </a:solidFill>
            <a:prstDash val="solid"/>
          </a:ln>
        </p:spPr>
      </p:sp>
      <p:sp>
        <p:nvSpPr>
          <p:cNvPr id="8" name="array-method-code">
            <a:extLst xmlns:a="http://schemas.openxmlformats.org/drawingml/2006/main">
              <a:ext uri="{FF2B5EF4-FFF2-40B4-BE49-F238E27FC236}">
                <a16:creationId xmlns:a16="http://schemas.microsoft.com/office/drawing/2014/main" id="{3A78794A-D0CE-4B57-B87B-50C1E2AE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333750"/>
            <a:ext cx="74485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const names = students.map((s) =&gt; s.name);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const found = students.find((s) =&gt; s.id === 1);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const cs = students.filter((s) =&gt; s.major === 'Computer Science');</a:t>
            </a:r>
          </a:p>
        </p:txBody>
      </p:sp>
      <p:sp>
        <p:nvSpPr>
          <p:cNvPr id="9" name="bullets">
            <a:extLst xmlns:a="http://schemas.openxmlformats.org/drawingml/2006/main">
              <a:ext uri="{FF2B5EF4-FFF2-40B4-BE49-F238E27FC236}">
                <a16:creationId xmlns:a16="http://schemas.microsoft.com/office/drawing/2014/main" id="{9CF479F0-1DCB-4109-8795-3429AF53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572250"/>
            <a:ext cx="7239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t>• map: 배열을 다른 배열로 변환</a:t>
            </a:r>
          </a:p>
          <a:p xmlns:a="http://schemas.openxmlformats.org/drawingml/2006/main">
            <a:pPr algn="l">
              <a:defRPr sz="21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t>• find: 조건에 맞는 첫 번째 값 찾기</a:t>
            </a:r>
          </a:p>
          <a:p xmlns:a="http://schemas.openxmlformats.org/drawingml/2006/main">
            <a:pPr algn="l">
              <a:defRPr sz="21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t>• filter: 조건에 맞는 값만 남기기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C7497782-F795-442A-A976-8E11639F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6202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3"/>
                </a:solidFill>
                <a:latin typeface="Malgun Gothic"/>
                <a:ea typeface="Malgun Gothic"/>
                <a:cs typeface="Malgun Gothic"/>
              </a:defRPr>
            </a:pPr>
            <a:r>
              <a:t>Chapter 02.5  JavaScript + Node.js + Express  |  06</a:t>
            </a:r>
          </a:p>
        </p:txBody>
      </p:sp>
    </p:spTree>
    <p:extLst>
      <p:ext uri="{BB962C8B-B14F-4D97-AF65-F5344CB8AC3E}">
        <p14:creationId xmlns:p14="http://schemas.microsoft.com/office/powerpoint/2010/main" val="178830448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B588BB-844F-42AF-851A-E32DEEEB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B3578F-E1E2-4170-8BBC-036F3F49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23900"/>
            <a:ext cx="1390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t>구조 분해와 스프레드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0DA00C9-AC0D-4D34-A80B-A521A59F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8115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B73"/>
                </a:solidFill>
                <a:latin typeface="Malgun Gothic"/>
                <a:ea typeface="Malgun Gothic"/>
                <a:cs typeface="Malgun Gothic"/>
              </a:defRPr>
            </a:pPr>
            <a:r>
              <a:t>Express의 req.body와 수정 로직에서 계속 만납니다.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F65803-0FF8-4B35-A570-9E3E77F0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5" name="code-block-box">
            <a:extLst xmlns:a="http://schemas.openxmlformats.org/drawingml/2006/main">
              <a:ext uri="{FF2B5EF4-FFF2-40B4-BE49-F238E27FC236}">
                <a16:creationId xmlns:a16="http://schemas.microsoft.com/office/drawing/2014/main" id="{4C5B0D90-BF7B-4C04-8066-AAE7606E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7239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9050">
            <a:solidFill>
              <a:srgbClr val="293645"/>
            </a:solidFill>
            <a:prstDash val="solid"/>
          </a:ln>
        </p:spPr>
      </p:sp>
      <p:sp>
        <p:nvSpPr>
          <p:cNvPr id="6" name="code-block">
            <a:extLst xmlns:a="http://schemas.openxmlformats.org/drawingml/2006/main">
              <a:ext uri="{FF2B5EF4-FFF2-40B4-BE49-F238E27FC236}">
                <a16:creationId xmlns:a16="http://schemas.microsoft.com/office/drawing/2014/main" id="{3F4AF2F0-672A-4A4A-A886-F75C1C48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29000"/>
            <a:ext cx="65913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const body = {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  name: '민수',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  major: 'Computer Science',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};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const { name, major } = body;</a:t>
            </a:r>
          </a:p>
        </p:txBody>
      </p:sp>
      <p:sp>
        <p:nvSpPr>
          <p:cNvPr id="7" name="spread-code-box">
            <a:extLst xmlns:a="http://schemas.openxmlformats.org/drawingml/2006/main">
              <a:ext uri="{FF2B5EF4-FFF2-40B4-BE49-F238E27FC236}">
                <a16:creationId xmlns:a16="http://schemas.microsoft.com/office/drawing/2014/main" id="{B617B468-FFD8-4441-9947-D70AE343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43250"/>
            <a:ext cx="7524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9050">
            <a:solidFill>
              <a:srgbClr val="293645"/>
            </a:solidFill>
            <a:prstDash val="solid"/>
          </a:ln>
        </p:spPr>
      </p:sp>
      <p:sp>
        <p:nvSpPr>
          <p:cNvPr id="8" name="spread-code">
            <a:extLst xmlns:a="http://schemas.openxmlformats.org/drawingml/2006/main">
              <a:ext uri="{FF2B5EF4-FFF2-40B4-BE49-F238E27FC236}">
                <a16:creationId xmlns:a16="http://schemas.microsoft.com/office/drawing/2014/main" id="{48A147E3-392A-4973-990B-12ACDF00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429000"/>
            <a:ext cx="68770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const student = { id: 1, name: '지민', major: 'Math' };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const updated = {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  ...student,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  major: 'Computer Science',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};</a:t>
            </a:r>
          </a:p>
        </p:txBody>
      </p:sp>
      <p:sp>
        <p:nvSpPr>
          <p:cNvPr id="9" name="destructure-summary">
            <a:extLst xmlns:a="http://schemas.openxmlformats.org/drawingml/2006/main">
              <a:ext uri="{FF2B5EF4-FFF2-40B4-BE49-F238E27FC236}">
                <a16:creationId xmlns:a16="http://schemas.microsoft.com/office/drawing/2014/main" id="{33B30F12-11DB-4D60-A36E-2B844E25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239000"/>
            <a:ext cx="1381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t>왼쪽은 값을 꺼내는 문법, 오른쪽은 기존 객체를 복사하면서 일부만 바꾸는 문법입니다.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8576FEC2-33E1-4BC3-B752-4B510C53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6202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3"/>
                </a:solidFill>
                <a:latin typeface="Malgun Gothic"/>
                <a:ea typeface="Malgun Gothic"/>
                <a:cs typeface="Malgun Gothic"/>
              </a:defRPr>
            </a:pPr>
            <a:r>
              <a:t>Chapter 02.5  JavaScript + Node.js + Express  |  07</a:t>
            </a:r>
          </a:p>
        </p:txBody>
      </p:sp>
    </p:spTree>
    <p:extLst>
      <p:ext uri="{BB962C8B-B14F-4D97-AF65-F5344CB8AC3E}">
        <p14:creationId xmlns:p14="http://schemas.microsoft.com/office/powerpoint/2010/main" val="153668248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B67B50-6C76-4F60-8639-A5704BAD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90647B-75EF-429F-A2AC-6B597FFD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23900"/>
            <a:ext cx="1390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t>모듈: 파일을 나누는 방법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4E4159A-D0B0-4434-90DD-A7D4CBD2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8115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B73"/>
                </a:solidFill>
                <a:latin typeface="Malgun Gothic"/>
                <a:ea typeface="Malgun Gothic"/>
                <a:cs typeface="Malgun Gothic"/>
              </a:defRPr>
            </a:pPr>
            <a:r>
              <a:t>한 파일에서 내보내고, 다른 파일에서 가져옵니다.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22CFFF-AC7B-4B0E-9CBE-5DF5A85C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5" name="math-label">
            <a:extLst xmlns:a="http://schemas.openxmlformats.org/drawingml/2006/main">
              <a:ext uri="{FF2B5EF4-FFF2-40B4-BE49-F238E27FC236}">
                <a16:creationId xmlns:a16="http://schemas.microsoft.com/office/drawing/2014/main" id="{81C1C7DF-01EC-4164-8B85-B058E7DE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math.js</a:t>
            </a:r>
          </a:p>
        </p:txBody>
      </p:sp>
      <p:sp>
        <p:nvSpPr>
          <p:cNvPr id="6" name="module-export-code-box">
            <a:extLst xmlns:a="http://schemas.openxmlformats.org/drawingml/2006/main">
              <a:ext uri="{FF2B5EF4-FFF2-40B4-BE49-F238E27FC236}">
                <a16:creationId xmlns:a16="http://schemas.microsoft.com/office/drawing/2014/main" id="{721BEEED-2FE1-4CD6-929F-CD40BCE6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6572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9050">
            <a:solidFill>
              <a:srgbClr val="293645"/>
            </a:solidFill>
            <a:prstDash val="solid"/>
          </a:ln>
        </p:spPr>
      </p:sp>
      <p:sp>
        <p:nvSpPr>
          <p:cNvPr id="7" name="module-export-code">
            <a:extLst xmlns:a="http://schemas.openxmlformats.org/drawingml/2006/main">
              <a:ext uri="{FF2B5EF4-FFF2-40B4-BE49-F238E27FC236}">
                <a16:creationId xmlns:a16="http://schemas.microsoft.com/office/drawing/2014/main" id="{8C108FC7-8B2E-4CCA-BB84-839154F3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14750"/>
            <a:ext cx="59245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function add(a, b) {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  return a + b;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module.exports = { add };</a:t>
            </a:r>
          </a:p>
        </p:txBody>
      </p:sp>
      <p:sp>
        <p:nvSpPr>
          <p:cNvPr id="8" name="app-label">
            <a:extLst xmlns:a="http://schemas.openxmlformats.org/drawingml/2006/main">
              <a:ext uri="{FF2B5EF4-FFF2-40B4-BE49-F238E27FC236}">
                <a16:creationId xmlns:a16="http://schemas.microsoft.com/office/drawing/2014/main" id="{BFB341DB-9FD0-4B82-AFE6-D4D1D15B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57500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defRPr>
            </a:pPr>
            <a:r>
              <a:t>app.js</a:t>
            </a:r>
          </a:p>
        </p:txBody>
      </p:sp>
      <p:sp>
        <p:nvSpPr>
          <p:cNvPr id="9" name="module-require-code-box">
            <a:extLst xmlns:a="http://schemas.openxmlformats.org/drawingml/2006/main">
              <a:ext uri="{FF2B5EF4-FFF2-40B4-BE49-F238E27FC236}">
                <a16:creationId xmlns:a16="http://schemas.microsoft.com/office/drawing/2014/main" id="{7F8356AE-96B3-43DF-878F-4D75396B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29000"/>
            <a:ext cx="6572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9050">
            <a:solidFill>
              <a:srgbClr val="293645"/>
            </a:solidFill>
            <a:prstDash val="solid"/>
          </a:ln>
        </p:spPr>
      </p:sp>
      <p:sp>
        <p:nvSpPr>
          <p:cNvPr id="10" name="module-require-code">
            <a:extLst xmlns:a="http://schemas.openxmlformats.org/drawingml/2006/main">
              <a:ext uri="{FF2B5EF4-FFF2-40B4-BE49-F238E27FC236}">
                <a16:creationId xmlns:a16="http://schemas.microsoft.com/office/drawing/2014/main" id="{AAE6F8E9-FBCE-4D5F-8ACE-4E38E99E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714750"/>
            <a:ext cx="59245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const { add } = require('./math');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console.log(add(2, 3));</a:t>
            </a:r>
          </a:p>
        </p:txBody>
      </p:sp>
      <p:sp>
        <p:nvSpPr>
          <p:cNvPr id="11" name="module-note">
            <a:extLst xmlns:a="http://schemas.openxmlformats.org/drawingml/2006/main">
              <a:ext uri="{FF2B5EF4-FFF2-40B4-BE49-F238E27FC236}">
                <a16:creationId xmlns:a16="http://schemas.microsoft.com/office/drawing/2014/main" id="{8748515F-0CCF-4D21-99E9-E7ACA8A7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429500"/>
            <a:ext cx="1238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0B981"/>
                </a:solidFill>
                <a:latin typeface="Malgun Gothic"/>
                <a:ea typeface="Malgun Gothic"/>
                <a:cs typeface="Malgun Gothic"/>
              </a:defRPr>
            </a:pPr>
            <a:r>
              <a:t>Chapter 03부터 app, router, controller가 이 방식으로 분리됩니다.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5871A2FD-F059-4A07-B20E-2A8049F8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6202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3"/>
                </a:solidFill>
                <a:latin typeface="Malgun Gothic"/>
                <a:ea typeface="Malgun Gothic"/>
                <a:cs typeface="Malgun Gothic"/>
              </a:defRPr>
            </a:pPr>
            <a:r>
              <a:t>Chapter 02.5  JavaScript + Node.js + Express  |  08</a:t>
            </a:r>
          </a:p>
        </p:txBody>
      </p:sp>
    </p:spTree>
    <p:extLst>
      <p:ext uri="{BB962C8B-B14F-4D97-AF65-F5344CB8AC3E}">
        <p14:creationId xmlns:p14="http://schemas.microsoft.com/office/powerpoint/2010/main" val="12136765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63313C-F89E-4CF4-9C75-72C50990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35DABD-CA01-4DD8-BCD2-F42EFA8B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23900"/>
            <a:ext cx="1390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t>비동기: 서버가 기다리는 법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0D2C24B-555F-466B-B483-66A7CEF8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8115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B73"/>
                </a:solidFill>
                <a:latin typeface="Malgun Gothic"/>
                <a:ea typeface="Malgun Gothic"/>
                <a:cs typeface="Malgun Gothic"/>
              </a:defRPr>
            </a:pPr>
            <a:r>
              <a:t>DB 조회, 파일 읽기, 외부 API 호출은 시간이 걸립니다.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8EF4C9-9C97-4248-86EC-557DD8BF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5" name="code-block-box">
            <a:extLst xmlns:a="http://schemas.openxmlformats.org/drawingml/2006/main">
              <a:ext uri="{FF2B5EF4-FFF2-40B4-BE49-F238E27FC236}">
                <a16:creationId xmlns:a16="http://schemas.microsoft.com/office/drawing/2014/main" id="{8728F239-CE56-48A0-9551-B864FAB8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0375"/>
            <a:ext cx="7810500" cy="495300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9050">
            <a:solidFill>
              <a:srgbClr val="293645"/>
            </a:solidFill>
            <a:prstDash val="solid"/>
          </a:ln>
        </p:spPr>
      </p:sp>
      <p:sp>
        <p:nvSpPr>
          <p:cNvPr id="6" name="code-block">
            <a:extLst xmlns:a="http://schemas.openxmlformats.org/drawingml/2006/main">
              <a:ext uri="{FF2B5EF4-FFF2-40B4-BE49-F238E27FC236}">
                <a16:creationId xmlns:a16="http://schemas.microsoft.com/office/drawing/2014/main" id="{D4A0DB8C-BC65-4C9F-965F-3AF29990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86125"/>
            <a:ext cx="716280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function wait(ms) {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  return new Promise((resolve) =&gt; {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    setTimeout(() =&gt; resolve('완료'), ms);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  });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async function main() {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  const result = await wait(1000);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  console.log(result);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7" name="async-main">
            <a:extLst xmlns:a="http://schemas.openxmlformats.org/drawingml/2006/main">
              <a:ext uri="{FF2B5EF4-FFF2-40B4-BE49-F238E27FC236}">
                <a16:creationId xmlns:a16="http://schemas.microsoft.com/office/drawing/2014/main" id="{B63F4248-0EEC-4CEE-B529-687C8A08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33750"/>
            <a:ext cx="628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t>await는 Promise가 끝날 때까지 해당 함수 안에서 기다립니다.</a:t>
            </a:r>
          </a:p>
        </p:txBody>
      </p:sp>
      <p:sp>
        <p:nvSpPr>
          <p:cNvPr id="8" name="prisma-preview-code-box">
            <a:extLst xmlns:a="http://schemas.openxmlformats.org/drawingml/2006/main">
              <a:ext uri="{FF2B5EF4-FFF2-40B4-BE49-F238E27FC236}">
                <a16:creationId xmlns:a16="http://schemas.microsoft.com/office/drawing/2014/main" id="{FB7C6B49-4B87-4D46-AE89-08A339DC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334000"/>
            <a:ext cx="6858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9050">
            <a:solidFill>
              <a:srgbClr val="293645"/>
            </a:solidFill>
            <a:prstDash val="solid"/>
          </a:ln>
        </p:spPr>
      </p:sp>
      <p:sp>
        <p:nvSpPr>
          <p:cNvPr id="9" name="prisma-preview-code">
            <a:extLst xmlns:a="http://schemas.openxmlformats.org/drawingml/2006/main">
              <a:ext uri="{FF2B5EF4-FFF2-40B4-BE49-F238E27FC236}">
                <a16:creationId xmlns:a16="http://schemas.microsoft.com/office/drawing/2014/main" id="{AC9C067A-5C54-4330-9873-F51A7F96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619750"/>
            <a:ext cx="62103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const user = await prisma.user.findUnique({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  where: { id },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});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4553CB0A-3B39-42EB-8C04-2AEF226A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6202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3"/>
                </a:solidFill>
                <a:latin typeface="Malgun Gothic"/>
                <a:ea typeface="Malgun Gothic"/>
                <a:cs typeface="Malgun Gothic"/>
              </a:defRPr>
            </a:pPr>
            <a:r>
              <a:t>Chapter 02.5  JavaScript + Node.js + Express  |  09</a:t>
            </a:r>
          </a:p>
        </p:txBody>
      </p:sp>
    </p:spTree>
    <p:extLst>
      <p:ext uri="{BB962C8B-B14F-4D97-AF65-F5344CB8AC3E}">
        <p14:creationId xmlns:p14="http://schemas.microsoft.com/office/powerpoint/2010/main" val="187350245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D28666-E78F-4400-9B44-3034826A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29EF7FF-1853-45E8-885E-9ED231FF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23900"/>
            <a:ext cx="1390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t>Express를 읽는 순서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589B7BC-C0EA-4DF2-8C02-E2473865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8115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B73"/>
                </a:solidFill>
                <a:latin typeface="Malgun Gothic"/>
                <a:ea typeface="Malgun Gothic"/>
                <a:cs typeface="Malgun Gothic"/>
              </a:defRPr>
            </a:pPr>
            <a:r>
              <a:t>요청이 들어오면 미들웨어를 지나 라우터 함수가 응답합니다.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9AB8A3-0D35-4ABF-9AAD-86816CE2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5" name="step-num-0">
            <a:extLst xmlns:a="http://schemas.openxmlformats.org/drawingml/2006/main">
              <a:ext uri="{FF2B5EF4-FFF2-40B4-BE49-F238E27FC236}">
                <a16:creationId xmlns:a16="http://schemas.microsoft.com/office/drawing/2014/main" id="{02E6E4C0-FFF8-431C-A66D-C539A189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66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1</a:t>
            </a:r>
          </a:p>
        </p:txBody>
      </p:sp>
      <p:sp>
        <p:nvSpPr>
          <p:cNvPr id="6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AE66DCDF-F3FD-42E3-A54F-62B6ABA7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7200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t>Request</a:t>
            </a:r>
          </a:p>
        </p:txBody>
      </p:sp>
      <p:sp>
        <p:nvSpPr>
          <p:cNvPr id="7" name="step-desc-0">
            <a:extLst xmlns:a="http://schemas.openxmlformats.org/drawingml/2006/main">
              <a:ext uri="{FF2B5EF4-FFF2-40B4-BE49-F238E27FC236}">
                <a16:creationId xmlns:a16="http://schemas.microsoft.com/office/drawing/2014/main" id="{7E5E3BE7-F112-4BF4-9527-93185DC6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62550"/>
            <a:ext cx="3143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B73"/>
                </a:solidFill>
                <a:latin typeface="Malgun Gothic"/>
                <a:ea typeface="Malgun Gothic"/>
                <a:cs typeface="Malgun Gothic"/>
              </a:defRPr>
            </a:pPr>
            <a:r>
              <a:t>브라우저, Postman, curl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F185E5-02A3-454F-9582-F65DC0CD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43350"/>
            <a:ext cx="723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solidFill>
              <a:srgbClr val="D9D4C7"/>
            </a:solidFill>
            <a:prstDash val="solid"/>
          </a:ln>
        </p:spPr>
      </p:sp>
      <p:sp>
        <p:nvSpPr>
          <p:cNvPr id="9" name="step-num-1">
            <a:extLst xmlns:a="http://schemas.openxmlformats.org/drawingml/2006/main">
              <a:ext uri="{FF2B5EF4-FFF2-40B4-BE49-F238E27FC236}">
                <a16:creationId xmlns:a16="http://schemas.microsoft.com/office/drawing/2014/main" id="{B6E7D9C7-DAD0-43AD-BDF1-E3AD03A7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0"/>
            <a:ext cx="66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2</a:t>
            </a:r>
          </a:p>
        </p:txBody>
      </p:sp>
      <p:sp>
        <p:nvSpPr>
          <p:cNvPr id="10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A1B0F249-F2DD-40C8-AE26-220538BE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7200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t>Middleware</a:t>
            </a:r>
          </a:p>
        </p:txBody>
      </p:sp>
      <p:sp>
        <p:nvSpPr>
          <p:cNvPr id="11" name="step-desc-1">
            <a:extLst xmlns:a="http://schemas.openxmlformats.org/drawingml/2006/main">
              <a:ext uri="{FF2B5EF4-FFF2-40B4-BE49-F238E27FC236}">
                <a16:creationId xmlns:a16="http://schemas.microsoft.com/office/drawing/2014/main" id="{CA5A03C7-F89B-4E19-891A-1A2258FA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162550"/>
            <a:ext cx="3143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B73"/>
                </a:solidFill>
                <a:latin typeface="Malgun Gothic"/>
                <a:ea typeface="Malgun Gothic"/>
                <a:cs typeface="Malgun Gothic"/>
              </a:defRPr>
            </a:pPr>
            <a:r>
              <a:t>JSON 파싱, 로그, 인증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B21CA7-ADD5-4003-BD4F-AC455845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43350"/>
            <a:ext cx="723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solidFill>
              <a:srgbClr val="D9D4C7"/>
            </a:solidFill>
            <a:prstDash val="solid"/>
          </a:ln>
        </p:spPr>
      </p:sp>
      <p:sp>
        <p:nvSpPr>
          <p:cNvPr id="13" name="step-num-2">
            <a:extLst xmlns:a="http://schemas.openxmlformats.org/drawingml/2006/main">
              <a:ext uri="{FF2B5EF4-FFF2-40B4-BE49-F238E27FC236}">
                <a16:creationId xmlns:a16="http://schemas.microsoft.com/office/drawing/2014/main" id="{956831A1-6B9B-4BB3-B8C9-25F6182D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19500"/>
            <a:ext cx="66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3</a:t>
            </a:r>
          </a:p>
        </p:txBody>
      </p:sp>
      <p:sp>
        <p:nvSpPr>
          <p:cNvPr id="14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66C83B44-92A7-4FC7-9E66-1FB10127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7200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t>Route Handler</a:t>
            </a:r>
          </a:p>
        </p:txBody>
      </p:sp>
      <p:sp>
        <p:nvSpPr>
          <p:cNvPr id="15" name="step-desc-2">
            <a:extLst xmlns:a="http://schemas.openxmlformats.org/drawingml/2006/main">
              <a:ext uri="{FF2B5EF4-FFF2-40B4-BE49-F238E27FC236}">
                <a16:creationId xmlns:a16="http://schemas.microsoft.com/office/drawing/2014/main" id="{0F2A76C0-083E-4C64-807C-894C1278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162550"/>
            <a:ext cx="3143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B73"/>
                </a:solidFill>
                <a:latin typeface="Malgun Gothic"/>
                <a:ea typeface="Malgun Gothic"/>
                <a:cs typeface="Malgun Gothic"/>
              </a:defRPr>
            </a:pPr>
            <a:r>
              <a:t>비즈니스 로직 호출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7D0A8E-49A2-438F-A7B9-2E18DE0F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943350"/>
            <a:ext cx="723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solidFill>
              <a:srgbClr val="D9D4C7"/>
            </a:solidFill>
            <a:prstDash val="solid"/>
          </a:ln>
        </p:spPr>
      </p:sp>
      <p:sp>
        <p:nvSpPr>
          <p:cNvPr id="17" name="step-num-3">
            <a:extLst xmlns:a="http://schemas.openxmlformats.org/drawingml/2006/main">
              <a:ext uri="{FF2B5EF4-FFF2-40B4-BE49-F238E27FC236}">
                <a16:creationId xmlns:a16="http://schemas.microsoft.com/office/drawing/2014/main" id="{1EE2C1B4-CC70-4D8F-9E3A-AE79BCE5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619500"/>
            <a:ext cx="66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4</a:t>
            </a:r>
          </a:p>
        </p:txBody>
      </p:sp>
      <p:sp>
        <p:nvSpPr>
          <p:cNvPr id="18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7DA37051-E75C-42CE-B9CB-0CF400F4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57200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t>Response</a:t>
            </a:r>
          </a:p>
        </p:txBody>
      </p:sp>
      <p:sp>
        <p:nvSpPr>
          <p:cNvPr id="19" name="step-desc-3">
            <a:extLst xmlns:a="http://schemas.openxmlformats.org/drawingml/2006/main">
              <a:ext uri="{FF2B5EF4-FFF2-40B4-BE49-F238E27FC236}">
                <a16:creationId xmlns:a16="http://schemas.microsoft.com/office/drawing/2014/main" id="{CEC7E9CF-FF3B-47EB-9E81-901B21ED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62550"/>
            <a:ext cx="3143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B73"/>
                </a:solidFill>
                <a:latin typeface="Malgun Gothic"/>
                <a:ea typeface="Malgun Gothic"/>
                <a:cs typeface="Malgun Gothic"/>
              </a:defRPr>
            </a:pPr>
            <a:r>
              <a:t>status + json</a:t>
            </a:r>
          </a:p>
        </p:txBody>
      </p:sp>
      <p:sp>
        <p:nvSpPr>
          <p:cNvPr id="20" name="express-flow-code-box">
            <a:extLst xmlns:a="http://schemas.openxmlformats.org/drawingml/2006/main">
              <a:ext uri="{FF2B5EF4-FFF2-40B4-BE49-F238E27FC236}">
                <a16:creationId xmlns:a16="http://schemas.microsoft.com/office/drawing/2014/main" id="{15A7415A-9380-43D6-84AA-47AEB94C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7048500"/>
            <a:ext cx="9810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9050">
            <a:solidFill>
              <a:srgbClr val="293645"/>
            </a:solidFill>
            <a:prstDash val="solid"/>
          </a:ln>
        </p:spPr>
      </p:sp>
      <p:sp>
        <p:nvSpPr>
          <p:cNvPr id="21" name="express-flow-code">
            <a:extLst xmlns:a="http://schemas.openxmlformats.org/drawingml/2006/main">
              <a:ext uri="{FF2B5EF4-FFF2-40B4-BE49-F238E27FC236}">
                <a16:creationId xmlns:a16="http://schemas.microsoft.com/office/drawing/2014/main" id="{43BC6AF9-4607-4B26-BE22-858068F8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7334250"/>
            <a:ext cx="91630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app.use(express.json());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app.get('/api/students', (req, res) =&gt; {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  res.json({ data: students });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});</a:t>
            </a:r>
          </a:p>
        </p:txBody>
      </p:sp>
      <p:sp>
        <p:nvSpPr>
          <p:cNvPr id="22" name="footer">
            <a:extLst xmlns:a="http://schemas.openxmlformats.org/drawingml/2006/main">
              <a:ext uri="{FF2B5EF4-FFF2-40B4-BE49-F238E27FC236}">
                <a16:creationId xmlns:a16="http://schemas.microsoft.com/office/drawing/2014/main" id="{E94AC3DA-5691-41CD-B22E-13CB92EF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6202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3"/>
                </a:solidFill>
                <a:latin typeface="Malgun Gothic"/>
                <a:ea typeface="Malgun Gothic"/>
                <a:cs typeface="Malgun Gothic"/>
              </a:defRPr>
            </a:pPr>
            <a:r>
              <a:t>Chapter 02.5  JavaScript + Node.js + Express  |  10</a:t>
            </a:r>
          </a:p>
        </p:txBody>
      </p:sp>
    </p:spTree>
    <p:extLst>
      <p:ext uri="{BB962C8B-B14F-4D97-AF65-F5344CB8AC3E}">
        <p14:creationId xmlns:p14="http://schemas.microsoft.com/office/powerpoint/2010/main" val="141612311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FC43BE-A640-436C-9F5C-9F383757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54DD1A-D26D-4A11-A02F-BCF45A00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23900"/>
            <a:ext cx="1390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t>미니 서버: 학생 목록 API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81A47D4-1BC0-4C8E-90B1-67838E8B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8115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B73"/>
                </a:solidFill>
                <a:latin typeface="Malgun Gothic"/>
                <a:ea typeface="Malgun Gothic"/>
                <a:cs typeface="Malgun Gothic"/>
              </a:defRPr>
            </a:pPr>
            <a:r>
              <a:t>배열 하나로 시작해서 REST API 모양을 연습합니다.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CEFEC7-8159-4235-AB91-55A88982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5" name="code-block-box">
            <a:extLst xmlns:a="http://schemas.openxmlformats.org/drawingml/2006/main">
              <a:ext uri="{FF2B5EF4-FFF2-40B4-BE49-F238E27FC236}">
                <a16:creationId xmlns:a16="http://schemas.microsoft.com/office/drawing/2014/main" id="{1DFAC196-9799-49CB-BE51-79B6B5E7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9525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9050">
            <a:solidFill>
              <a:srgbClr val="293645"/>
            </a:solidFill>
            <a:prstDash val="solid"/>
          </a:ln>
        </p:spPr>
      </p:sp>
      <p:sp>
        <p:nvSpPr>
          <p:cNvPr id="6" name="code-block">
            <a:extLst xmlns:a="http://schemas.openxmlformats.org/drawingml/2006/main">
              <a:ext uri="{FF2B5EF4-FFF2-40B4-BE49-F238E27FC236}">
                <a16:creationId xmlns:a16="http://schemas.microsoft.com/office/drawing/2014/main" id="{EE524B19-6215-4F2B-8C23-E456A673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38500"/>
            <a:ext cx="88773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let students = [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  { id: 1, name: '지민', major: 'Computer Science' },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  { id: 2, name: '서연', major: 'Business' },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];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app.get('/api/students', (req, res) =&gt; {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  res.json({ count: students.length, data: students });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});</a:t>
            </a:r>
          </a:p>
        </p:txBody>
      </p:sp>
      <p:sp>
        <p:nvSpPr>
          <p:cNvPr id="7" name="bullets">
            <a:extLst xmlns:a="http://schemas.openxmlformats.org/drawingml/2006/main">
              <a:ext uri="{FF2B5EF4-FFF2-40B4-BE49-F238E27FC236}">
                <a16:creationId xmlns:a16="http://schemas.microsoft.com/office/drawing/2014/main" id="{361085D9-BA72-4430-AEC1-AD195B35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333750"/>
            <a:ext cx="4953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t>• GET /api/students</a:t>
            </a:r>
          </a:p>
          <a:p xmlns:a="http://schemas.openxmlformats.org/drawingml/2006/main">
            <a:pPr algn="l">
              <a:defRPr sz="24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t>• GET /api/students/:id</a:t>
            </a:r>
          </a:p>
          <a:p xmlns:a="http://schemas.openxmlformats.org/drawingml/2006/main">
            <a:pPr algn="l">
              <a:defRPr sz="24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t>• POST /api/students</a:t>
            </a:r>
          </a:p>
        </p:txBody>
      </p:sp>
      <p:sp>
        <p:nvSpPr>
          <p:cNvPr id="8" name="next-chapter">
            <a:extLst xmlns:a="http://schemas.openxmlformats.org/drawingml/2006/main">
              <a:ext uri="{FF2B5EF4-FFF2-40B4-BE49-F238E27FC236}">
                <a16:creationId xmlns:a16="http://schemas.microsoft.com/office/drawing/2014/main" id="{22BF2E95-8E27-4DB2-B0C3-D2956E8F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858125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97316"/>
                </a:solidFill>
                <a:latin typeface="Malgun Gothic"/>
                <a:ea typeface="Malgun Gothic"/>
                <a:cs typeface="Malgun Gothic"/>
              </a:defRPr>
            </a:pPr>
            <a:r>
              <a:t>Chapter 03에서는 이 구조를 Router와 Controller로 분리합니다.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A26D8B1B-E144-46A0-8E53-5D763056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6202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3"/>
                </a:solidFill>
                <a:latin typeface="Malgun Gothic"/>
                <a:ea typeface="Malgun Gothic"/>
                <a:cs typeface="Malgun Gothic"/>
              </a:defRPr>
            </a:pPr>
            <a:r>
              <a:t>Chapter 02.5  JavaScript + Node.js + Express  |  11</a:t>
            </a:r>
          </a:p>
        </p:txBody>
      </p:sp>
    </p:spTree>
    <p:extLst>
      <p:ext uri="{BB962C8B-B14F-4D97-AF65-F5344CB8AC3E}">
        <p14:creationId xmlns:p14="http://schemas.microsoft.com/office/powerpoint/2010/main" val="25422192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FA950E-BB78-42AE-9345-080B3EDF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F36B299-DC40-4D1D-A6CC-11D93809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23900"/>
            <a:ext cx="1390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t>실습 체크포인트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C1189FA-1756-4C28-9A8C-0DC7C459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8115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B73"/>
                </a:solidFill>
                <a:latin typeface="Malgun Gothic"/>
                <a:ea typeface="Malgun Gothic"/>
                <a:cs typeface="Malgun Gothic"/>
              </a:defRPr>
            </a:pPr>
            <a:r>
              <a:t>문법을 외우는 수업보다, 서버 코드를 직접 읽고 바꾸는 수업으로 마무리합니다.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9E3E47-8624-42E2-A569-1BE1087F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5" name="bullets">
            <a:extLst xmlns:a="http://schemas.openxmlformats.org/drawingml/2006/main">
              <a:ext uri="{FF2B5EF4-FFF2-40B4-BE49-F238E27FC236}">
                <a16:creationId xmlns:a16="http://schemas.microsoft.com/office/drawing/2014/main" id="{B015F104-0D0C-4DF2-9B6C-5F99A8B6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48000"/>
            <a:ext cx="8191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t>• 01-hello.js: Node.js 실행 확인</a:t>
            </a:r>
          </a:p>
          <a:p xmlns:a="http://schemas.openxmlformats.org/drawingml/2006/main">
            <a:pPr algn="l">
              <a:defRPr sz="22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t>• 02-variables.js: let, const, typeof 확인</a:t>
            </a:r>
          </a:p>
          <a:p xmlns:a="http://schemas.openxmlformats.org/drawingml/2006/main">
            <a:pPr algn="l">
              <a:defRPr sz="22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t>• 04-array-object.js: map, find, filter 연습</a:t>
            </a:r>
          </a:p>
          <a:p xmlns:a="http://schemas.openxmlformats.org/drawingml/2006/main">
            <a:pPr algn="l">
              <a:defRPr sz="22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t>• 05-async.js: await 흐름 관찰</a:t>
            </a:r>
          </a:p>
          <a:p xmlns:a="http://schemas.openxmlformats.org/drawingml/2006/main">
            <a:pPr algn="l">
              <a:defRPr sz="225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t>• src/server.js: Express 라우트 추가</a:t>
            </a:r>
          </a:p>
        </p:txBody>
      </p:sp>
      <p:sp>
        <p:nvSpPr>
          <p:cNvPr id="6" name="practice-command-code-box">
            <a:extLst xmlns:a="http://schemas.openxmlformats.org/drawingml/2006/main">
              <a:ext uri="{FF2B5EF4-FFF2-40B4-BE49-F238E27FC236}">
                <a16:creationId xmlns:a16="http://schemas.microsoft.com/office/drawing/2014/main" id="{ECA731DC-F97D-42C1-B241-15BDCB25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43250"/>
            <a:ext cx="61912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9050">
            <a:solidFill>
              <a:srgbClr val="293645"/>
            </a:solidFill>
            <a:prstDash val="solid"/>
          </a:ln>
        </p:spPr>
      </p:sp>
      <p:sp>
        <p:nvSpPr>
          <p:cNvPr id="7" name="practice-command-code">
            <a:extLst xmlns:a="http://schemas.openxmlformats.org/drawingml/2006/main">
              <a:ext uri="{FF2B5EF4-FFF2-40B4-BE49-F238E27FC236}">
                <a16:creationId xmlns:a16="http://schemas.microsoft.com/office/drawing/2014/main" id="{E57734BE-E121-4707-A941-02D4CFD7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429000"/>
            <a:ext cx="55435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npm install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npm run ex:hello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npm run ex:data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npm run dev</a:t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E9F2F2"/>
                </a:solidFill>
                <a:latin typeface="Consolas"/>
                <a:ea typeface="Consolas"/>
                <a:cs typeface="Consolas"/>
              </a:defRPr>
            </a:pPr>
            <a:r>
              <a:t>curl http://localhost:3000/api/students</a:t>
            </a:r>
          </a:p>
        </p:txBody>
      </p:sp>
      <p:sp>
        <p:nvSpPr>
          <p:cNvPr id="8" name="ready-note">
            <a:extLst xmlns:a="http://schemas.openxmlformats.org/drawingml/2006/main">
              <a:ext uri="{FF2B5EF4-FFF2-40B4-BE49-F238E27FC236}">
                <a16:creationId xmlns:a16="http://schemas.microsoft.com/office/drawing/2014/main" id="{8B083D46-CD43-436E-B567-5FE3DE80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905750"/>
            <a:ext cx="1457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B981"/>
                </a:solidFill>
                <a:latin typeface="Malgun Gothic"/>
                <a:ea typeface="Malgun Gothic"/>
                <a:cs typeface="Malgun Gothic"/>
              </a:defRPr>
            </a:pPr>
            <a:r>
              <a:t>다음 장으로 넘어갈 준비: app, router, controller 파일을 보고 “함수와 객체의 흐름”으로 설명할 수 있다.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2330325B-6A71-489E-BD21-9F3BF821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6202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3"/>
                </a:solidFill>
                <a:latin typeface="Malgun Gothic"/>
                <a:ea typeface="Malgun Gothic"/>
                <a:cs typeface="Malgun Gothic"/>
              </a:defRPr>
            </a:pPr>
            <a:r>
              <a:t>Chapter 02.5  JavaScript + Node.js + Express  |  12</a:t>
            </a:r>
          </a:p>
        </p:txBody>
      </p:sp>
    </p:spTree>
    <p:extLst>
      <p:ext uri="{BB962C8B-B14F-4D97-AF65-F5344CB8AC3E}">
        <p14:creationId xmlns:p14="http://schemas.microsoft.com/office/powerpoint/2010/main" val="10515752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2026-05-12T08:33:18.2290000Z</dcterms:created>
  <dcterms:modified xsi:type="dcterms:W3CDTF">2026-05-12T08:33:18.2290000Z</dcterms:modified>
</coreProperties>
</file>